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4" r:id="rId3"/>
    <p:sldId id="263" r:id="rId4"/>
    <p:sldId id="264" r:id="rId5"/>
    <p:sldId id="265" r:id="rId6"/>
    <p:sldId id="268" r:id="rId7"/>
    <p:sldId id="266" r:id="rId8"/>
    <p:sldId id="273" r:id="rId9"/>
    <p:sldId id="269" r:id="rId10"/>
    <p:sldId id="270" r:id="rId11"/>
    <p:sldId id="271" r:id="rId12"/>
    <p:sldId id="275" r:id="rId13"/>
    <p:sldId id="276" r:id="rId14"/>
    <p:sldId id="257"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402403-0960-4685-AC87-B9F4AD7EE006}" v="1" dt="2024-08-12T07:34:05.1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085" autoAdjust="0"/>
  </p:normalViewPr>
  <p:slideViewPr>
    <p:cSldViewPr snapToGrid="0">
      <p:cViewPr varScale="1">
        <p:scale>
          <a:sx n="57" d="100"/>
          <a:sy n="57" d="100"/>
        </p:scale>
        <p:origin x="1680" y="274"/>
      </p:cViewPr>
      <p:guideLst>
        <p:guide orient="horz" pos="2160"/>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zon, Daisy Mae" userId="S::daisy.mae.elizon@accenture.com::fe275b82-a7bc-42d2-b738-eaf1ea24c43a" providerId="AD" clId="Web-{ED402403-0960-4685-AC87-B9F4AD7EE006}"/>
    <pc:docChg chg="modSld">
      <pc:chgData name="Elizon, Daisy Mae" userId="S::daisy.mae.elizon@accenture.com::fe275b82-a7bc-42d2-b738-eaf1ea24c43a" providerId="AD" clId="Web-{ED402403-0960-4685-AC87-B9F4AD7EE006}" dt="2024-08-12T07:34:05.171" v="0"/>
      <pc:docMkLst>
        <pc:docMk/>
      </pc:docMkLst>
      <pc:sldChg chg="delSp">
        <pc:chgData name="Elizon, Daisy Mae" userId="S::daisy.mae.elizon@accenture.com::fe275b82-a7bc-42d2-b738-eaf1ea24c43a" providerId="AD" clId="Web-{ED402403-0960-4685-AC87-B9F4AD7EE006}" dt="2024-08-12T07:34:05.171" v="0"/>
        <pc:sldMkLst>
          <pc:docMk/>
          <pc:sldMk cId="3765286261" sldId="256"/>
        </pc:sldMkLst>
        <pc:spChg chg="del">
          <ac:chgData name="Elizon, Daisy Mae" userId="S::daisy.mae.elizon@accenture.com::fe275b82-a7bc-42d2-b738-eaf1ea24c43a" providerId="AD" clId="Web-{ED402403-0960-4685-AC87-B9F4AD7EE006}" dt="2024-08-12T07:34:05.171" v="0"/>
          <ac:spMkLst>
            <pc:docMk/>
            <pc:sldMk cId="3765286261" sldId="256"/>
            <ac:spMk id="3" creationId="{2C4B5C6E-D8AE-A0F3-D57F-6C295321D11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C23A85-9FAE-4DC7-9132-2A278C885DBE}" type="datetimeFigureOut">
              <a:rPr lang="en-US" smtClean="0"/>
              <a:t>5/4/2026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083168-0239-401F-81DF-C3875156A38D}" type="slidenum">
              <a:rPr lang="en-US" smtClean="0"/>
              <a:t>‹#›</a:t>
            </a:fld>
            <a:endParaRPr lang="en-US"/>
          </a:p>
        </p:txBody>
      </p:sp>
    </p:spTree>
    <p:extLst>
      <p:ext uri="{BB962C8B-B14F-4D97-AF65-F5344CB8AC3E}">
        <p14:creationId xmlns:p14="http://schemas.microsoft.com/office/powerpoint/2010/main" val="3702537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a:t>
            </a:fld>
            <a:endParaRPr lang="en-US"/>
          </a:p>
        </p:txBody>
      </p:sp>
    </p:spTree>
    <p:extLst>
      <p:ext uri="{BB962C8B-B14F-4D97-AF65-F5344CB8AC3E}">
        <p14:creationId xmlns:p14="http://schemas.microsoft.com/office/powerpoint/2010/main" val="954390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2</a:t>
            </a:fld>
            <a:endParaRPr lang="en-US"/>
          </a:p>
        </p:txBody>
      </p:sp>
    </p:spTree>
    <p:extLst>
      <p:ext uri="{BB962C8B-B14F-4D97-AF65-F5344CB8AC3E}">
        <p14:creationId xmlns:p14="http://schemas.microsoft.com/office/powerpoint/2010/main" val="658924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7</a:t>
            </a:fld>
            <a:endParaRPr lang="en-US"/>
          </a:p>
        </p:txBody>
      </p:sp>
    </p:spTree>
    <p:extLst>
      <p:ext uri="{BB962C8B-B14F-4D97-AF65-F5344CB8AC3E}">
        <p14:creationId xmlns:p14="http://schemas.microsoft.com/office/powerpoint/2010/main" val="335194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8</a:t>
            </a:fld>
            <a:endParaRPr lang="en-US"/>
          </a:p>
        </p:txBody>
      </p:sp>
    </p:spTree>
    <p:extLst>
      <p:ext uri="{BB962C8B-B14F-4D97-AF65-F5344CB8AC3E}">
        <p14:creationId xmlns:p14="http://schemas.microsoft.com/office/powerpoint/2010/main" val="3658981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9</a:t>
            </a:fld>
            <a:endParaRPr lang="en-US"/>
          </a:p>
        </p:txBody>
      </p:sp>
    </p:spTree>
    <p:extLst>
      <p:ext uri="{BB962C8B-B14F-4D97-AF65-F5344CB8AC3E}">
        <p14:creationId xmlns:p14="http://schemas.microsoft.com/office/powerpoint/2010/main" val="2192458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10</a:t>
            </a:fld>
            <a:endParaRPr lang="en-US"/>
          </a:p>
        </p:txBody>
      </p:sp>
    </p:spTree>
    <p:extLst>
      <p:ext uri="{BB962C8B-B14F-4D97-AF65-F5344CB8AC3E}">
        <p14:creationId xmlns:p14="http://schemas.microsoft.com/office/powerpoint/2010/main" val="2377786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11</a:t>
            </a:fld>
            <a:endParaRPr lang="en-US"/>
          </a:p>
        </p:txBody>
      </p:sp>
    </p:spTree>
    <p:extLst>
      <p:ext uri="{BB962C8B-B14F-4D97-AF65-F5344CB8AC3E}">
        <p14:creationId xmlns:p14="http://schemas.microsoft.com/office/powerpoint/2010/main" val="25756952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12</a:t>
            </a:fld>
            <a:endParaRPr lang="en-US"/>
          </a:p>
        </p:txBody>
      </p:sp>
    </p:spTree>
    <p:extLst>
      <p:ext uri="{BB962C8B-B14F-4D97-AF65-F5344CB8AC3E}">
        <p14:creationId xmlns:p14="http://schemas.microsoft.com/office/powerpoint/2010/main" val="602122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083168-0239-401F-81DF-C3875156A38D}" type="slidenum">
              <a:rPr lang="en-US" smtClean="0"/>
              <a:t>13</a:t>
            </a:fld>
            <a:endParaRPr lang="en-US"/>
          </a:p>
        </p:txBody>
      </p:sp>
    </p:spTree>
    <p:extLst>
      <p:ext uri="{BB962C8B-B14F-4D97-AF65-F5344CB8AC3E}">
        <p14:creationId xmlns:p14="http://schemas.microsoft.com/office/powerpoint/2010/main" val="1344324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083168-0239-401F-81DF-C3875156A38D}" type="slidenum">
              <a:rPr lang="en-US" smtClean="0"/>
              <a:t>15</a:t>
            </a:fld>
            <a:endParaRPr lang="en-US"/>
          </a:p>
        </p:txBody>
      </p:sp>
    </p:spTree>
    <p:extLst>
      <p:ext uri="{BB962C8B-B14F-4D97-AF65-F5344CB8AC3E}">
        <p14:creationId xmlns:p14="http://schemas.microsoft.com/office/powerpoint/2010/main" val="1216570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AB69E-8FEC-59F5-D2FD-F9830BA8AC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14CF6E-C35E-2F52-330D-60ADE5647D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7B7B71-8541-6015-16EE-43F84681759E}"/>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D7BDF010-D241-D12C-5F40-93BB0D2E7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2A6A7-6A93-1D6E-CD08-CF6F9E1CACCF}"/>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1861186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3632B-3287-2533-B23C-835DEDE31F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0DFEB9-0976-19B0-3DB1-4C3B0703D1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958073-2E58-90DB-53D2-DE20D2FE6D94}"/>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70A5D46D-F460-1666-3262-06467D0BE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E992D0-2724-709F-A688-8C7BA3E3F32F}"/>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4001058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51936-4F68-1241-8339-E6577E1D1F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04730-25B3-05F3-50C9-2DFEB0BF70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C5DCD0-6806-5BBB-AAE3-E05CF509E29E}"/>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2B1DF018-4815-4E81-8A5E-58C927AAE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5BA5A4-D0AE-4474-88E6-C1F98536E85B}"/>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951144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54BA3-E1F0-C915-5559-21B3C23417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62F526-EAA7-1406-2853-C4DFB58A5A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F43DBE-ED96-7BDF-7744-8247CFB252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C1B18A-E268-B70B-83E2-BD36923FCC56}"/>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6" name="Footer Placeholder 5">
            <a:extLst>
              <a:ext uri="{FF2B5EF4-FFF2-40B4-BE49-F238E27FC236}">
                <a16:creationId xmlns:a16="http://schemas.microsoft.com/office/drawing/2014/main" id="{9E9124CA-C6E7-CB29-9A1B-87F61CFA6D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36AB70-354C-9480-705A-E20F15F20F50}"/>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282783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93E8B-2D30-4F6B-22C9-4CCC8FF718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11F797-43C4-7A01-B449-5BFD9AD4E8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6D97ED-F574-5799-A48B-8589760BC8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B65E33-4DF1-4442-27E3-B0C2E8FD6E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B1D327-5F89-4AFD-EB8F-8A5F27D6E3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9FE15FB-6A7A-44EF-6BF8-6530F831382C}"/>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8" name="Footer Placeholder 7">
            <a:extLst>
              <a:ext uri="{FF2B5EF4-FFF2-40B4-BE49-F238E27FC236}">
                <a16:creationId xmlns:a16="http://schemas.microsoft.com/office/drawing/2014/main" id="{CD6C0595-3EDF-EE12-B807-ABCCFF2CC1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B3DD506-176D-62FF-AFFB-79E810EFDFD5}"/>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033214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AE813-0C7E-6222-9ADB-2001944BB2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721203-47DD-04E0-7804-4BF2B13D8279}"/>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4" name="Footer Placeholder 3">
            <a:extLst>
              <a:ext uri="{FF2B5EF4-FFF2-40B4-BE49-F238E27FC236}">
                <a16:creationId xmlns:a16="http://schemas.microsoft.com/office/drawing/2014/main" id="{FA60F75C-51D1-27A3-2810-2BE284096F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6CD5A5-DEEB-D2CC-3A73-B06EFCCCB4F8}"/>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1598709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C1E52C-CD3F-33A1-D325-1D63A53734CA}"/>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3" name="Footer Placeholder 2">
            <a:extLst>
              <a:ext uri="{FF2B5EF4-FFF2-40B4-BE49-F238E27FC236}">
                <a16:creationId xmlns:a16="http://schemas.microsoft.com/office/drawing/2014/main" id="{D0AC4515-3239-6592-19E9-E16A54D2F7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316FFB-6A60-AE79-FDB1-0CF1A29BE985}"/>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464298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5216-41E0-458E-BF68-F27195A0C4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8D79C8-FA78-E56B-80DA-459A7BBE1B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4A7A86-3207-CA8E-D7E6-E7FE481D5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34899-F817-9A3D-9C99-8AA4C0D28A4B}"/>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6" name="Footer Placeholder 5">
            <a:extLst>
              <a:ext uri="{FF2B5EF4-FFF2-40B4-BE49-F238E27FC236}">
                <a16:creationId xmlns:a16="http://schemas.microsoft.com/office/drawing/2014/main" id="{04058543-33CE-690A-1B82-9EBB5FA5CE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99A01-9FBA-00DD-BA39-6BBD65C79B3C}"/>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07165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F3F18-CCFF-3447-D1EB-B787A5AEA9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E887ED-7E22-0ADB-CF4D-F5613FDF9F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AB71D3-A6B6-59AC-BFC0-5EC1BA880C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9AF3FF-E3C8-4103-EE99-B6A153ED55F5}"/>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6" name="Footer Placeholder 5">
            <a:extLst>
              <a:ext uri="{FF2B5EF4-FFF2-40B4-BE49-F238E27FC236}">
                <a16:creationId xmlns:a16="http://schemas.microsoft.com/office/drawing/2014/main" id="{6CF0AD55-4FD6-A46F-5506-CF9B847A8C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C81CEC-FCE5-0A48-ECF2-402D299FF7A3}"/>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2597506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5B5D7-78D9-2885-16F1-1780698982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E5E660-5C27-6C1A-B21A-FD91B8AC7E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6B73E-8FDF-EFE2-FB30-A39006C9E0B9}"/>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4E169F4D-7E1C-CA2B-41DF-33612B63C8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26BF98-C8D9-1856-0898-3DAF3ADE187D}"/>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698185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7FFE44-6E80-036C-1607-16B3DBF839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762C07-5BD1-E496-9FE7-E0DF2B144A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4671C7-378B-E0D1-CB10-E5FAF660D9CF}"/>
              </a:ext>
            </a:extLst>
          </p:cNvPr>
          <p:cNvSpPr>
            <a:spLocks noGrp="1"/>
          </p:cNvSpPr>
          <p:nvPr>
            <p:ph type="dt" sz="half" idx="10"/>
          </p:nvPr>
        </p:nvSpPr>
        <p:spPr/>
        <p:txBody>
          <a:body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B064668A-E921-3CC8-6B9A-8487A18CF4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69F883-877F-635E-F9FF-12D43AB17DD4}"/>
              </a:ext>
            </a:extLst>
          </p:cNvPr>
          <p:cNvSpPr>
            <a:spLocks noGrp="1"/>
          </p:cNvSpPr>
          <p:nvPr>
            <p:ph type="sldNum" sz="quarter" idx="12"/>
          </p:nvPr>
        </p:nvSpPr>
        <p:spPr/>
        <p:txBody>
          <a:bodyPr/>
          <a:lstStyle/>
          <a:p>
            <a:fld id="{8FCD1A04-D29C-4EAA-8F65-7FB39543F842}" type="slidenum">
              <a:rPr lang="en-US" smtClean="0"/>
              <a:t>‹#›</a:t>
            </a:fld>
            <a:endParaRPr lang="en-US"/>
          </a:p>
        </p:txBody>
      </p:sp>
    </p:spTree>
    <p:extLst>
      <p:ext uri="{BB962C8B-B14F-4D97-AF65-F5344CB8AC3E}">
        <p14:creationId xmlns:p14="http://schemas.microsoft.com/office/powerpoint/2010/main" val="308065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4FA5EE-9AE1-EBA8-C7D3-30852E8317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220AE4-0D04-70DE-7FB5-9DC25F5E8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7F6DA0-9D0D-594C-0BF8-3C01E48C0C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58E0EB-ACEE-4375-8073-C71F0A672B20}" type="datetimeFigureOut">
              <a:rPr lang="en-US" smtClean="0"/>
              <a:t>5/4/2026</a:t>
            </a:fld>
            <a:endParaRPr lang="en-US"/>
          </a:p>
        </p:txBody>
      </p:sp>
      <p:sp>
        <p:nvSpPr>
          <p:cNvPr id="5" name="Footer Placeholder 4">
            <a:extLst>
              <a:ext uri="{FF2B5EF4-FFF2-40B4-BE49-F238E27FC236}">
                <a16:creationId xmlns:a16="http://schemas.microsoft.com/office/drawing/2014/main" id="{EE4A218B-2A77-3C38-32B8-74ACD33CB2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E30013-F26A-1420-8240-5F8DFEFF14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CD1A04-D29C-4EAA-8F65-7FB39543F842}" type="slidenum">
              <a:rPr lang="en-US" smtClean="0"/>
              <a:t>‹#›</a:t>
            </a:fld>
            <a:endParaRPr lang="en-US"/>
          </a:p>
        </p:txBody>
      </p:sp>
    </p:spTree>
    <p:extLst>
      <p:ext uri="{BB962C8B-B14F-4D97-AF65-F5344CB8AC3E}">
        <p14:creationId xmlns:p14="http://schemas.microsoft.com/office/powerpoint/2010/main" val="2134017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hyperlink" Target="https://docs.aws.amazon.com/corretto/latest/corretto-21-ug/downloads-list.html"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1602658" y="2062162"/>
            <a:ext cx="9144000" cy="2387600"/>
          </a:xfrm>
        </p:spPr>
        <p:txBody>
          <a:bodyPr/>
          <a:lstStyle/>
          <a:p>
            <a:r>
              <a:rPr lang="en-US" b="1" dirty="0">
                <a:solidFill>
                  <a:schemeClr val="accent5"/>
                </a:solidFill>
                <a:latin typeface="Graphik" panose="020B0503030202060203" pitchFamily="34" charset="0"/>
              </a:rPr>
              <a:t>Product Info Microservice</a:t>
            </a:r>
          </a:p>
        </p:txBody>
      </p:sp>
    </p:spTree>
    <p:extLst>
      <p:ext uri="{BB962C8B-B14F-4D97-AF65-F5344CB8AC3E}">
        <p14:creationId xmlns:p14="http://schemas.microsoft.com/office/powerpoint/2010/main" val="3765286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Starter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TextBox 41">
            <a:extLst>
              <a:ext uri="{FF2B5EF4-FFF2-40B4-BE49-F238E27FC236}">
                <a16:creationId xmlns:a16="http://schemas.microsoft.com/office/drawing/2014/main" id="{38E156D7-8B56-C83E-A82A-A2A32A3BBB79}"/>
              </a:ext>
            </a:extLst>
          </p:cNvPr>
          <p:cNvSpPr txBox="1"/>
          <p:nvPr/>
        </p:nvSpPr>
        <p:spPr>
          <a:xfrm>
            <a:off x="463898" y="1425677"/>
            <a:ext cx="4788309" cy="1754326"/>
          </a:xfrm>
          <a:prstGeom prst="rect">
            <a:avLst/>
          </a:prstGeom>
          <a:noFill/>
        </p:spPr>
        <p:txBody>
          <a:bodyPr wrap="square" rtlCol="0">
            <a:spAutoFit/>
          </a:bodyPr>
          <a:lstStyle/>
          <a:p>
            <a:r>
              <a:rPr lang="en-US" dirty="0"/>
              <a:t>A starter application will be provided to kick off your assessment. It includes the following:</a:t>
            </a:r>
          </a:p>
          <a:p>
            <a:endParaRPr lang="en-US" dirty="0"/>
          </a:p>
          <a:p>
            <a:pPr marL="285750" indent="-285750">
              <a:buFont typeface="Courier New" panose="02070309020205020404" pitchFamily="49" charset="0"/>
              <a:buChar char="o"/>
            </a:pPr>
            <a:r>
              <a:rPr lang="en-US" dirty="0"/>
              <a:t>Exception handlers</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The </a:t>
            </a:r>
            <a:r>
              <a:rPr lang="en-US" dirty="0" err="1"/>
              <a:t>product.json</a:t>
            </a:r>
            <a:r>
              <a:rPr lang="en-US" dirty="0"/>
              <a:t> file</a:t>
            </a:r>
          </a:p>
        </p:txBody>
      </p:sp>
      <p:cxnSp>
        <p:nvCxnSpPr>
          <p:cNvPr id="43" name="Straight Connector 42">
            <a:extLst>
              <a:ext uri="{FF2B5EF4-FFF2-40B4-BE49-F238E27FC236}">
                <a16:creationId xmlns:a16="http://schemas.microsoft.com/office/drawing/2014/main" id="{26B1C8A2-7EAB-BB30-1F4C-2111CD9B278D}"/>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pic>
        <p:nvPicPr>
          <p:cNvPr id="45" name="Picture 44">
            <a:extLst>
              <a:ext uri="{FF2B5EF4-FFF2-40B4-BE49-F238E27FC236}">
                <a16:creationId xmlns:a16="http://schemas.microsoft.com/office/drawing/2014/main" id="{6168DA71-F859-5B36-0D99-ECC517B21608}"/>
              </a:ext>
            </a:extLst>
          </p:cNvPr>
          <p:cNvPicPr>
            <a:picLocks noChangeAspect="1"/>
          </p:cNvPicPr>
          <p:nvPr/>
        </p:nvPicPr>
        <p:blipFill>
          <a:blip r:embed="rId3"/>
          <a:stretch>
            <a:fillRect/>
          </a:stretch>
        </p:blipFill>
        <p:spPr>
          <a:xfrm>
            <a:off x="6460438" y="1332271"/>
            <a:ext cx="5121961" cy="4911213"/>
          </a:xfrm>
          <a:prstGeom prst="rect">
            <a:avLst/>
          </a:prstGeom>
        </p:spPr>
      </p:pic>
      <p:sp>
        <p:nvSpPr>
          <p:cNvPr id="47" name="TextBox 46">
            <a:extLst>
              <a:ext uri="{FF2B5EF4-FFF2-40B4-BE49-F238E27FC236}">
                <a16:creationId xmlns:a16="http://schemas.microsoft.com/office/drawing/2014/main" id="{69DEAEE6-1803-B619-714D-59EBA6045E99}"/>
              </a:ext>
            </a:extLst>
          </p:cNvPr>
          <p:cNvSpPr txBox="1"/>
          <p:nvPr/>
        </p:nvSpPr>
        <p:spPr>
          <a:xfrm>
            <a:off x="463898" y="3879226"/>
            <a:ext cx="5350744" cy="2308324"/>
          </a:xfrm>
          <a:prstGeom prst="rect">
            <a:avLst/>
          </a:prstGeom>
          <a:noFill/>
        </p:spPr>
        <p:txBody>
          <a:bodyPr wrap="square">
            <a:spAutoFit/>
          </a:bodyPr>
          <a:lstStyle/>
          <a:p>
            <a:r>
              <a:rPr lang="en-US" dirty="0"/>
              <a:t>Run the application to confirm it is operational and check the console for the following message:</a:t>
            </a:r>
          </a:p>
          <a:p>
            <a:endParaRPr lang="en-US" dirty="0"/>
          </a:p>
          <a:p>
            <a:r>
              <a:rPr lang="en-US" b="1" dirty="0"/>
              <a:t>Tomcat has started on port 8082 (http) with the context path '/’.</a:t>
            </a:r>
          </a:p>
          <a:p>
            <a:endParaRPr lang="en-US" dirty="0"/>
          </a:p>
          <a:p>
            <a:r>
              <a:rPr lang="en-US" dirty="0"/>
              <a:t>If the port number differs, please update it accordingly.</a:t>
            </a:r>
          </a:p>
        </p:txBody>
      </p:sp>
    </p:spTree>
    <p:extLst>
      <p:ext uri="{BB962C8B-B14F-4D97-AF65-F5344CB8AC3E}">
        <p14:creationId xmlns:p14="http://schemas.microsoft.com/office/powerpoint/2010/main" val="1097071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What are the objectives?</a:t>
            </a:r>
          </a:p>
        </p:txBody>
      </p:sp>
      <p:sp>
        <p:nvSpPr>
          <p:cNvPr id="4" name="TextBox 3">
            <a:extLst>
              <a:ext uri="{FF2B5EF4-FFF2-40B4-BE49-F238E27FC236}">
                <a16:creationId xmlns:a16="http://schemas.microsoft.com/office/drawing/2014/main" id="{623BCA2C-7A5B-15BF-70D4-AF7BDEB8AD0A}"/>
              </a:ext>
            </a:extLst>
          </p:cNvPr>
          <p:cNvSpPr txBox="1"/>
          <p:nvPr/>
        </p:nvSpPr>
        <p:spPr>
          <a:xfrm>
            <a:off x="600102" y="1351935"/>
            <a:ext cx="4953673" cy="2862322"/>
          </a:xfrm>
          <a:prstGeom prst="rect">
            <a:avLst/>
          </a:prstGeom>
          <a:noFill/>
        </p:spPr>
        <p:txBody>
          <a:bodyPr wrap="square" rtlCol="0">
            <a:spAutoFit/>
          </a:bodyPr>
          <a:lstStyle/>
          <a:p>
            <a:r>
              <a:rPr lang="en-US" sz="1500" dirty="0">
                <a:latin typeface="Graphik" panose="020B0503030202060203" pitchFamily="34" charset="0"/>
                <a:cs typeface="Arabic Typesetting" panose="03020402040406030203" pitchFamily="66" charset="-78"/>
              </a:rPr>
              <a:t>Develop an application that: </a:t>
            </a:r>
          </a:p>
          <a:p>
            <a:endParaRPr lang="en-US" sz="150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Retrieves product ID from product code found in the </a:t>
            </a:r>
            <a:r>
              <a:rPr lang="en-US" sz="1500" dirty="0" err="1">
                <a:latin typeface="Graphik" panose="020B0503030202060203" pitchFamily="34" charset="0"/>
                <a:cs typeface="Arabic Typesetting" panose="03020402040406030203" pitchFamily="66" charset="-78"/>
              </a:rPr>
              <a:t>product.json</a:t>
            </a:r>
            <a:r>
              <a:rPr lang="en-US" sz="1500" dirty="0">
                <a:latin typeface="Graphik" panose="020B0503030202060203" pitchFamily="34" charset="0"/>
                <a:cs typeface="Arabic Typesetting" panose="03020402040406030203" pitchFamily="66" charset="-78"/>
              </a:rPr>
              <a:t> file.</a:t>
            </a:r>
          </a:p>
          <a:p>
            <a:pPr marL="742950" lvl="1" indent="-285750">
              <a:buFont typeface="Courier New" panose="02070309020205020404" pitchFamily="49" charset="0"/>
              <a:buChar char="o"/>
            </a:pPr>
            <a:endParaRPr lang="en-US" sz="150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Handles missing product codes by throwing a </a:t>
            </a:r>
            <a:r>
              <a:rPr lang="en-US" sz="1500" dirty="0" err="1">
                <a:latin typeface="Graphik" panose="020B0503030202060203" pitchFamily="34" charset="0"/>
                <a:cs typeface="Arabic Typesetting" panose="03020402040406030203" pitchFamily="66" charset="-78"/>
              </a:rPr>
              <a:t>BadRequestException</a:t>
            </a:r>
            <a:r>
              <a:rPr lang="en-US" sz="1500" dirty="0">
                <a:latin typeface="Graphik" panose="020B0503030202060203" pitchFamily="34" charset="0"/>
                <a:cs typeface="Arabic Typesetting" panose="03020402040406030203" pitchFamily="66" charset="-78"/>
              </a:rPr>
              <a:t> with a relevant error message. </a:t>
            </a:r>
          </a:p>
          <a:p>
            <a:pPr marL="742950" lvl="1" indent="-285750">
              <a:buFont typeface="Courier New" panose="02070309020205020404" pitchFamily="49" charset="0"/>
              <a:buChar char="o"/>
            </a:pPr>
            <a:endParaRPr lang="en-US" sz="150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500" dirty="0">
                <a:latin typeface="Graphik" panose="020B0503030202060203" pitchFamily="34" charset="0"/>
                <a:cs typeface="Arabic Typesetting" panose="03020402040406030203" pitchFamily="66" charset="-78"/>
              </a:rPr>
              <a:t>Ensures proper exception handling when the JSON file cannot be read, returning a server error response</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96D4B25-E111-9CB4-BD2E-5B80AE4C7C90}"/>
              </a:ext>
            </a:extLst>
          </p:cNvPr>
          <p:cNvPicPr>
            <a:picLocks noChangeAspect="1"/>
          </p:cNvPicPr>
          <p:nvPr/>
        </p:nvPicPr>
        <p:blipFill>
          <a:blip r:embed="rId2"/>
          <a:stretch>
            <a:fillRect/>
          </a:stretch>
        </p:blipFill>
        <p:spPr>
          <a:xfrm>
            <a:off x="6659339" y="2241757"/>
            <a:ext cx="4482390" cy="2005780"/>
          </a:xfrm>
          <a:prstGeom prst="rect">
            <a:avLst/>
          </a:prstGeom>
        </p:spPr>
      </p:pic>
      <p:cxnSp>
        <p:nvCxnSpPr>
          <p:cNvPr id="8" name="Straight Arrow Connector 7">
            <a:extLst>
              <a:ext uri="{FF2B5EF4-FFF2-40B4-BE49-F238E27FC236}">
                <a16:creationId xmlns:a16="http://schemas.microsoft.com/office/drawing/2014/main" id="{F97410EF-F798-DF2C-6F72-33EABEFB7AE3}"/>
              </a:ext>
            </a:extLst>
          </p:cNvPr>
          <p:cNvCxnSpPr>
            <a:cxnSpLocks/>
          </p:cNvCxnSpPr>
          <p:nvPr/>
        </p:nvCxnSpPr>
        <p:spPr>
          <a:xfrm>
            <a:off x="8644896" y="3800169"/>
            <a:ext cx="0" cy="1524000"/>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5032A9F-446C-EE21-9915-DC0BEEFE1971}"/>
              </a:ext>
            </a:extLst>
          </p:cNvPr>
          <p:cNvSpPr txBox="1"/>
          <p:nvPr/>
        </p:nvSpPr>
        <p:spPr>
          <a:xfrm>
            <a:off x="7631283" y="5436617"/>
            <a:ext cx="1668584" cy="369332"/>
          </a:xfrm>
          <a:prstGeom prst="rect">
            <a:avLst/>
          </a:prstGeom>
          <a:noFill/>
        </p:spPr>
        <p:txBody>
          <a:bodyPr wrap="square" rtlCol="0">
            <a:spAutoFit/>
          </a:bodyPr>
          <a:lstStyle/>
          <a:p>
            <a:r>
              <a:rPr lang="en-US" b="1" dirty="0"/>
              <a:t>Product Code</a:t>
            </a:r>
          </a:p>
        </p:txBody>
      </p:sp>
      <p:cxnSp>
        <p:nvCxnSpPr>
          <p:cNvPr id="10" name="Straight Arrow Connector 9">
            <a:extLst>
              <a:ext uri="{FF2B5EF4-FFF2-40B4-BE49-F238E27FC236}">
                <a16:creationId xmlns:a16="http://schemas.microsoft.com/office/drawing/2014/main" id="{1C0205DE-04D2-4FD5-7768-A89187DA3B7A}"/>
              </a:ext>
            </a:extLst>
          </p:cNvPr>
          <p:cNvCxnSpPr>
            <a:cxnSpLocks/>
          </p:cNvCxnSpPr>
          <p:nvPr/>
        </p:nvCxnSpPr>
        <p:spPr>
          <a:xfrm>
            <a:off x="10271811" y="3800169"/>
            <a:ext cx="0" cy="1524000"/>
          </a:xfrm>
          <a:prstGeom prst="straightConnector1">
            <a:avLst/>
          </a:prstGeom>
          <a:ln w="44450">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00A13C7-8295-2EA7-5366-E37A7EBB1636}"/>
              </a:ext>
            </a:extLst>
          </p:cNvPr>
          <p:cNvSpPr txBox="1"/>
          <p:nvPr/>
        </p:nvSpPr>
        <p:spPr>
          <a:xfrm>
            <a:off x="9473145" y="5436617"/>
            <a:ext cx="1668584" cy="369332"/>
          </a:xfrm>
          <a:prstGeom prst="rect">
            <a:avLst/>
          </a:prstGeom>
          <a:noFill/>
        </p:spPr>
        <p:txBody>
          <a:bodyPr wrap="square" rtlCol="0">
            <a:spAutoFit/>
          </a:bodyPr>
          <a:lstStyle/>
          <a:p>
            <a:r>
              <a:rPr lang="en-US" b="1" dirty="0"/>
              <a:t>Product Id</a:t>
            </a:r>
          </a:p>
        </p:txBody>
      </p:sp>
      <p:cxnSp>
        <p:nvCxnSpPr>
          <p:cNvPr id="18" name="Straight Connector 17">
            <a:extLst>
              <a:ext uri="{FF2B5EF4-FFF2-40B4-BE49-F238E27FC236}">
                <a16:creationId xmlns:a16="http://schemas.microsoft.com/office/drawing/2014/main" id="{0FCA552B-5F9E-D21E-12C5-845EF40F8FB2}"/>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3269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Sequence Diagram</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708160"/>
          </a:xfrm>
          <a:prstGeom prst="rect">
            <a:avLst/>
          </a:prstGeom>
          <a:noFill/>
        </p:spPr>
        <p:txBody>
          <a:bodyPr wrap="square" rtlCol="0">
            <a:spAutoFit/>
          </a:bodyPr>
          <a:lstStyle/>
          <a:p>
            <a:r>
              <a:rPr lang="en-US" sz="1500" i="1" dirty="0">
                <a:latin typeface="Graphik" panose="020B0503030202060203" pitchFamily="34" charset="0"/>
              </a:rPr>
              <a:t>A </a:t>
            </a:r>
            <a:r>
              <a:rPr lang="en-US" sz="1500" b="1" i="1" dirty="0">
                <a:solidFill>
                  <a:schemeClr val="accent5">
                    <a:lumMod val="75000"/>
                  </a:schemeClr>
                </a:solidFill>
                <a:latin typeface="Graphik" panose="020B0503030202060203" pitchFamily="34" charset="0"/>
              </a:rPr>
              <a:t>sequence diagram</a:t>
            </a:r>
            <a:r>
              <a:rPr lang="en-US" sz="1500" i="1" dirty="0">
                <a:latin typeface="Graphik" panose="020B0503030202060203" pitchFamily="34" charset="0"/>
              </a:rPr>
              <a:t> in UML (Unified Modeling Language) is a type of interaction diagram that shows how objects interact in a particular scenario of a use case. </a:t>
            </a:r>
          </a:p>
          <a:p>
            <a:endParaRPr lang="en-US" sz="1500" i="1" dirty="0">
              <a:latin typeface="Graphik" panose="020B0503030202060203" pitchFamily="34" charset="0"/>
            </a:endParaRPr>
          </a:p>
          <a:p>
            <a:r>
              <a:rPr lang="en-US" sz="1500" i="1" dirty="0">
                <a:latin typeface="Graphik" panose="020B0503030202060203" pitchFamily="34" charset="0"/>
              </a:rPr>
              <a:t>It emphasizes the sequence of messages exchanged between objects over time. </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descr="A diagram of a product&#10;&#10;Description automatically generated">
            <a:extLst>
              <a:ext uri="{FF2B5EF4-FFF2-40B4-BE49-F238E27FC236}">
                <a16:creationId xmlns:a16="http://schemas.microsoft.com/office/drawing/2014/main" id="{2961EDF5-37D7-CBC4-D90F-43960120E3D1}"/>
              </a:ext>
            </a:extLst>
          </p:cNvPr>
          <p:cNvPicPr>
            <a:picLocks noChangeAspect="1"/>
          </p:cNvPicPr>
          <p:nvPr/>
        </p:nvPicPr>
        <p:blipFill>
          <a:blip r:embed="rId2"/>
          <a:stretch>
            <a:fillRect/>
          </a:stretch>
        </p:blipFill>
        <p:spPr>
          <a:xfrm>
            <a:off x="6241706" y="1189513"/>
            <a:ext cx="5913242" cy="5265557"/>
          </a:xfrm>
          <a:prstGeom prst="rect">
            <a:avLst/>
          </a:prstGeom>
        </p:spPr>
      </p:pic>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8EFCCEE-2D11-4D2E-46FF-1DA147CE05F4}"/>
              </a:ext>
            </a:extLst>
          </p:cNvPr>
          <p:cNvSpPr txBox="1"/>
          <p:nvPr/>
        </p:nvSpPr>
        <p:spPr>
          <a:xfrm>
            <a:off x="621210" y="3436374"/>
            <a:ext cx="5032337" cy="2862322"/>
          </a:xfrm>
          <a:prstGeom prst="rect">
            <a:avLst/>
          </a:prstGeom>
          <a:noFill/>
        </p:spPr>
        <p:txBody>
          <a:bodyPr wrap="square" rtlCol="0">
            <a:spAutoFit/>
          </a:bodyPr>
          <a:lstStyle/>
          <a:p>
            <a:pPr marL="285750" indent="-285750">
              <a:buFont typeface="Courier New" panose="02070309020205020404" pitchFamily="49" charset="0"/>
              <a:buChar char="o"/>
            </a:pPr>
            <a:r>
              <a:rPr lang="en-US" sz="1500" dirty="0">
                <a:latin typeface="Graphik" panose="020B0503030202060203" pitchFamily="34" charset="0"/>
              </a:rPr>
              <a:t>The API client (Postman) requests a product ID from the Product Info Microservice using a product code.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The service checks a JSON config file to find the product ID.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JSON file can't be read or if the product code doesn't exist in the file, an error is returned.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If the product code is valid, the service responds with the product ID in JSON format.</a:t>
            </a:r>
          </a:p>
        </p:txBody>
      </p:sp>
    </p:spTree>
    <p:extLst>
      <p:ext uri="{BB962C8B-B14F-4D97-AF65-F5344CB8AC3E}">
        <p14:creationId xmlns:p14="http://schemas.microsoft.com/office/powerpoint/2010/main" val="4286738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Swagger</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477328"/>
          </a:xfrm>
          <a:prstGeom prst="rect">
            <a:avLst/>
          </a:prstGeom>
          <a:noFill/>
        </p:spPr>
        <p:txBody>
          <a:bodyPr wrap="square" rtlCol="0">
            <a:spAutoFit/>
          </a:bodyPr>
          <a:lstStyle/>
          <a:p>
            <a:r>
              <a:rPr lang="en-US" sz="1500" b="1" i="1" dirty="0">
                <a:solidFill>
                  <a:schemeClr val="accent5">
                    <a:lumMod val="75000"/>
                  </a:schemeClr>
                </a:solidFill>
                <a:latin typeface="Graphik" panose="020B0503030202060203" pitchFamily="34" charset="0"/>
              </a:rPr>
              <a:t>Swagger</a:t>
            </a:r>
            <a:r>
              <a:rPr lang="en-US" sz="1500" i="1" dirty="0">
                <a:latin typeface="Graphik" panose="020B0503030202060203" pitchFamily="34" charset="0"/>
              </a:rPr>
              <a:t> is a framework used for designing, building, and documenting RESTful APIs. </a:t>
            </a:r>
          </a:p>
          <a:p>
            <a:endParaRPr lang="en-US" sz="1500" i="1" dirty="0">
              <a:latin typeface="Graphik" panose="020B0503030202060203" pitchFamily="34" charset="0"/>
            </a:endParaRPr>
          </a:p>
          <a:p>
            <a:r>
              <a:rPr lang="en-US" sz="1500" i="1" dirty="0">
                <a:latin typeface="Graphik" panose="020B0503030202060203" pitchFamily="34" charset="0"/>
              </a:rPr>
              <a:t>It provides a standardized way to describe the structure and behavior of APIs through a clear and interactive interface.</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pic>
        <p:nvPicPr>
          <p:cNvPr id="6" name="Content Placeholder 5" descr="A screenshot of a web page&#10;&#10;Description automatically generated">
            <a:extLst>
              <a:ext uri="{FF2B5EF4-FFF2-40B4-BE49-F238E27FC236}">
                <a16:creationId xmlns:a16="http://schemas.microsoft.com/office/drawing/2014/main" id="{09B9F644-BDFB-FB57-D98D-98324DC13DA5}"/>
              </a:ext>
            </a:extLst>
          </p:cNvPr>
          <p:cNvPicPr>
            <a:picLocks noGrp="1" noChangeAspect="1"/>
          </p:cNvPicPr>
          <p:nvPr/>
        </p:nvPicPr>
        <p:blipFill>
          <a:blip r:embed="rId2"/>
          <a:stretch>
            <a:fillRect/>
          </a:stretch>
        </p:blipFill>
        <p:spPr>
          <a:xfrm>
            <a:off x="6282814" y="1220183"/>
            <a:ext cx="5722373" cy="5030480"/>
          </a:xfrm>
          <a:prstGeom prst="rect">
            <a:avLst/>
          </a:prstGeom>
        </p:spPr>
      </p:pic>
    </p:spTree>
    <p:extLst>
      <p:ext uri="{BB962C8B-B14F-4D97-AF65-F5344CB8AC3E}">
        <p14:creationId xmlns:p14="http://schemas.microsoft.com/office/powerpoint/2010/main" val="1569467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Base URL</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1738938"/>
          </a:xfrm>
          <a:prstGeom prst="rect">
            <a:avLst/>
          </a:prstGeom>
          <a:noFill/>
        </p:spPr>
        <p:txBody>
          <a:bodyPr wrap="square" rtlCol="0">
            <a:spAutoFit/>
          </a:bodyPr>
          <a:lstStyle/>
          <a:p>
            <a:r>
              <a:rPr lang="en-US" sz="1500" i="1" dirty="0">
                <a:latin typeface="Graphik" panose="020B0503030202060203" pitchFamily="34" charset="0"/>
              </a:rPr>
              <a:t>in a Spring Boot application, the </a:t>
            </a:r>
            <a:r>
              <a:rPr lang="en-US" sz="1500" b="1" i="1" dirty="0">
                <a:solidFill>
                  <a:schemeClr val="accent5">
                    <a:lumMod val="75000"/>
                  </a:schemeClr>
                </a:solidFill>
                <a:latin typeface="Graphik" panose="020B0503030202060203" pitchFamily="34" charset="0"/>
              </a:rPr>
              <a:t>base URL </a:t>
            </a:r>
            <a:r>
              <a:rPr lang="en-US" sz="1500" i="1" dirty="0">
                <a:latin typeface="Graphik" panose="020B0503030202060203" pitchFamily="34" charset="0"/>
              </a:rPr>
              <a:t>is typically specified using the @RequestMapping annotation at the class level. </a:t>
            </a:r>
          </a:p>
          <a:p>
            <a:endParaRPr lang="en-US" sz="1500" i="1" dirty="0">
              <a:latin typeface="Graphik" panose="020B0503030202060203" pitchFamily="34" charset="0"/>
            </a:endParaRPr>
          </a:p>
          <a:p>
            <a:r>
              <a:rPr lang="en-US" sz="1500" i="1" dirty="0">
                <a:latin typeface="Graphik" panose="020B0503030202060203" pitchFamily="34" charset="0"/>
              </a:rPr>
              <a:t>This sets a common prefix for all the endpoint mappings within that controller class </a:t>
            </a:r>
            <a:r>
              <a:rPr lang="en-US" sz="1600" i="1" dirty="0"/>
              <a:t>making it easier to manage and organize your API routes.</a:t>
            </a:r>
            <a:endParaRPr lang="en-US" sz="1500" i="1" dirty="0">
              <a:latin typeface="Graphik" panose="020B0503030202060203" pitchFamily="34" charset="0"/>
            </a:endParaRP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93E2F633-A7F3-0DBD-C9B0-9FB20612B9B7}"/>
              </a:ext>
            </a:extLst>
          </p:cNvPr>
          <p:cNvGrpSpPr/>
          <p:nvPr/>
        </p:nvGrpSpPr>
        <p:grpSpPr>
          <a:xfrm>
            <a:off x="6134100" y="1209367"/>
            <a:ext cx="6066046" cy="2860215"/>
            <a:chOff x="6134100" y="1209367"/>
            <a:chExt cx="6066046" cy="2860215"/>
          </a:xfrm>
        </p:grpSpPr>
        <p:pic>
          <p:nvPicPr>
            <p:cNvPr id="10" name="Picture 9">
              <a:extLst>
                <a:ext uri="{FF2B5EF4-FFF2-40B4-BE49-F238E27FC236}">
                  <a16:creationId xmlns:a16="http://schemas.microsoft.com/office/drawing/2014/main" id="{03EDA226-A932-3C08-5598-E3F53605173F}"/>
                </a:ext>
              </a:extLst>
            </p:cNvPr>
            <p:cNvPicPr>
              <a:picLocks noChangeAspect="1"/>
            </p:cNvPicPr>
            <p:nvPr/>
          </p:nvPicPr>
          <p:blipFill>
            <a:blip r:embed="rId2"/>
            <a:stretch>
              <a:fillRect/>
            </a:stretch>
          </p:blipFill>
          <p:spPr>
            <a:xfrm>
              <a:off x="6134100" y="1209367"/>
              <a:ext cx="6066046" cy="2860215"/>
            </a:xfrm>
            <a:prstGeom prst="rect">
              <a:avLst/>
            </a:prstGeom>
          </p:spPr>
        </p:pic>
        <p:sp>
          <p:nvSpPr>
            <p:cNvPr id="11" name="Rectangle: Rounded Corners 10">
              <a:extLst>
                <a:ext uri="{FF2B5EF4-FFF2-40B4-BE49-F238E27FC236}">
                  <a16:creationId xmlns:a16="http://schemas.microsoft.com/office/drawing/2014/main" id="{A547613F-EBB1-9DDC-0776-B92081CDE9A7}"/>
                </a:ext>
              </a:extLst>
            </p:cNvPr>
            <p:cNvSpPr/>
            <p:nvPr/>
          </p:nvSpPr>
          <p:spPr>
            <a:xfrm>
              <a:off x="6390968" y="3156155"/>
              <a:ext cx="4571997" cy="786580"/>
            </a:xfrm>
            <a:prstGeom prst="roundRect">
              <a:avLst/>
            </a:prstGeom>
            <a:noFill/>
            <a:ln w="4762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DE4DDA59-DACC-E6FB-4EE1-DD07D2B4B9E0}"/>
              </a:ext>
            </a:extLst>
          </p:cNvPr>
          <p:cNvSpPr txBox="1"/>
          <p:nvPr/>
        </p:nvSpPr>
        <p:spPr>
          <a:xfrm>
            <a:off x="552384" y="3439478"/>
            <a:ext cx="5032337" cy="2169825"/>
          </a:xfrm>
          <a:prstGeom prst="rect">
            <a:avLst/>
          </a:prstGeom>
          <a:noFill/>
        </p:spPr>
        <p:txBody>
          <a:bodyPr wrap="square" rtlCol="0">
            <a:spAutoFit/>
          </a:bodyPr>
          <a:lstStyle/>
          <a:p>
            <a:r>
              <a:rPr lang="en-US" sz="1500" b="1" dirty="0">
                <a:solidFill>
                  <a:schemeClr val="accent5">
                    <a:lumMod val="75000"/>
                  </a:schemeClr>
                </a:solidFill>
                <a:latin typeface="Graphik" panose="020B0503030202060203" pitchFamily="34" charset="0"/>
              </a:rPr>
              <a:t>Base URL Declaration: </a:t>
            </a:r>
          </a:p>
          <a:p>
            <a:endParaRPr lang="en-US" sz="1500" b="1" dirty="0">
              <a:solidFill>
                <a:schemeClr val="accent5">
                  <a:lumMod val="75000"/>
                </a:schemeClr>
              </a:solidFill>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The @RequestMapping("/ms-product-info") at the class level sets the base URL for all endpoints within the </a:t>
            </a:r>
            <a:r>
              <a:rPr lang="en-US" sz="1500" dirty="0" err="1">
                <a:latin typeface="Graphik" panose="020B0503030202060203" pitchFamily="34" charset="0"/>
              </a:rPr>
              <a:t>ProductController</a:t>
            </a:r>
            <a:r>
              <a:rPr lang="en-US" sz="1500" dirty="0">
                <a:latin typeface="Graphik" panose="020B0503030202060203" pitchFamily="34" charset="0"/>
              </a:rPr>
              <a:t>. </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This means that all endpoints in this controller will start with /</a:t>
            </a:r>
            <a:r>
              <a:rPr lang="en-US" sz="1500" dirty="0" err="1">
                <a:latin typeface="Graphik" panose="020B0503030202060203" pitchFamily="34" charset="0"/>
              </a:rPr>
              <a:t>ms</a:t>
            </a:r>
            <a:r>
              <a:rPr lang="en-US" sz="1500" dirty="0">
                <a:latin typeface="Graphik" panose="020B0503030202060203" pitchFamily="34" charset="0"/>
              </a:rPr>
              <a:t>-product-info, resulting in the full base URL localhost:8082/</a:t>
            </a:r>
            <a:r>
              <a:rPr lang="en-US" sz="1500" dirty="0" err="1">
                <a:latin typeface="Graphik" panose="020B0503030202060203" pitchFamily="34" charset="0"/>
              </a:rPr>
              <a:t>ms</a:t>
            </a:r>
            <a:r>
              <a:rPr lang="en-US" sz="1500" dirty="0">
                <a:latin typeface="Graphik" panose="020B0503030202060203" pitchFamily="34" charset="0"/>
              </a:rPr>
              <a:t>-product-info.</a:t>
            </a:r>
          </a:p>
        </p:txBody>
      </p:sp>
    </p:spTree>
    <p:extLst>
      <p:ext uri="{BB962C8B-B14F-4D97-AF65-F5344CB8AC3E}">
        <p14:creationId xmlns:p14="http://schemas.microsoft.com/office/powerpoint/2010/main" val="3248630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Endpoints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356851"/>
            <a:ext cx="5032337" cy="2400657"/>
          </a:xfrm>
          <a:prstGeom prst="rect">
            <a:avLst/>
          </a:prstGeom>
          <a:noFill/>
        </p:spPr>
        <p:txBody>
          <a:bodyPr wrap="square" rtlCol="0">
            <a:spAutoFit/>
          </a:bodyPr>
          <a:lstStyle/>
          <a:p>
            <a:r>
              <a:rPr lang="en-US" sz="1500" i="1" dirty="0">
                <a:latin typeface="Graphik" panose="020B0503030202060203" pitchFamily="34" charset="0"/>
              </a:rPr>
              <a:t>In the context of Spring Boot or RESTful web services, an </a:t>
            </a:r>
            <a:r>
              <a:rPr lang="en-US" sz="1500" b="1" i="1" dirty="0">
                <a:solidFill>
                  <a:schemeClr val="accent5">
                    <a:lumMod val="75000"/>
                  </a:schemeClr>
                </a:solidFill>
                <a:latin typeface="Graphik" panose="020B0503030202060203" pitchFamily="34" charset="0"/>
              </a:rPr>
              <a:t>endpoint</a:t>
            </a:r>
            <a:r>
              <a:rPr lang="en-US" sz="1500" i="1" dirty="0">
                <a:latin typeface="Graphik" panose="020B0503030202060203" pitchFamily="34" charset="0"/>
              </a:rPr>
              <a:t> is a specific URL that a client can use to interact with the server. Each endpoint in a RESTful service corresponds to a particular resource or action that the service provides. </a:t>
            </a:r>
          </a:p>
          <a:p>
            <a:endParaRPr lang="en-US" sz="1500" i="1" dirty="0">
              <a:latin typeface="Graphik" panose="020B0503030202060203" pitchFamily="34" charset="0"/>
            </a:endParaRPr>
          </a:p>
          <a:p>
            <a:r>
              <a:rPr lang="en-US" sz="1500" i="1" dirty="0">
                <a:latin typeface="Graphik" panose="020B0503030202060203" pitchFamily="34" charset="0"/>
              </a:rPr>
              <a:t>An endpoint in Spring Boot is a URL that maps to a method in a controller class. This URL is used to perform operations such as retrieving, creating, updating, or deleting resources.</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B253CF0E-FD44-5169-BB5D-803158945BE6}"/>
              </a:ext>
            </a:extLst>
          </p:cNvPr>
          <p:cNvCxnSpPr/>
          <p:nvPr/>
        </p:nvCxnSpPr>
        <p:spPr>
          <a:xfrm>
            <a:off x="5909187" y="1209368"/>
            <a:ext cx="0" cy="5034116"/>
          </a:xfrm>
          <a:prstGeom prst="line">
            <a:avLst/>
          </a:prstGeom>
        </p:spPr>
        <p:style>
          <a:lnRef idx="2">
            <a:schemeClr val="accent1"/>
          </a:lnRef>
          <a:fillRef idx="0">
            <a:schemeClr val="accent1"/>
          </a:fillRef>
          <a:effectRef idx="1">
            <a:schemeClr val="accent1"/>
          </a:effectRef>
          <a:fontRef idx="minor">
            <a:schemeClr val="tx1"/>
          </a:fontRef>
        </p:style>
      </p:cxnSp>
      <p:pic>
        <p:nvPicPr>
          <p:cNvPr id="5" name="Content Placeholder 5" descr="A screenshot of a computer&#10;&#10;Description automatically generated">
            <a:extLst>
              <a:ext uri="{FF2B5EF4-FFF2-40B4-BE49-F238E27FC236}">
                <a16:creationId xmlns:a16="http://schemas.microsoft.com/office/drawing/2014/main" id="{C4031F3E-69F7-5E83-D983-C1ADADDAB97C}"/>
              </a:ext>
            </a:extLst>
          </p:cNvPr>
          <p:cNvPicPr>
            <a:picLocks noGrp="1" noChangeAspect="1"/>
          </p:cNvPicPr>
          <p:nvPr/>
        </p:nvPicPr>
        <p:blipFill>
          <a:blip r:embed="rId3"/>
          <a:stretch>
            <a:fillRect/>
          </a:stretch>
        </p:blipFill>
        <p:spPr>
          <a:xfrm>
            <a:off x="6371304" y="1004606"/>
            <a:ext cx="5525728" cy="5362394"/>
          </a:xfrm>
          <a:prstGeom prst="rect">
            <a:avLst/>
          </a:prstGeom>
        </p:spPr>
      </p:pic>
      <p:sp>
        <p:nvSpPr>
          <p:cNvPr id="9" name="TextBox 8">
            <a:extLst>
              <a:ext uri="{FF2B5EF4-FFF2-40B4-BE49-F238E27FC236}">
                <a16:creationId xmlns:a16="http://schemas.microsoft.com/office/drawing/2014/main" id="{6586208C-09B4-0D3F-99E7-3EB72BA934A9}"/>
              </a:ext>
            </a:extLst>
          </p:cNvPr>
          <p:cNvSpPr txBox="1"/>
          <p:nvPr/>
        </p:nvSpPr>
        <p:spPr>
          <a:xfrm>
            <a:off x="463898" y="4290680"/>
            <a:ext cx="5032337" cy="1938992"/>
          </a:xfrm>
          <a:prstGeom prst="rect">
            <a:avLst/>
          </a:prstGeom>
          <a:noFill/>
        </p:spPr>
        <p:txBody>
          <a:bodyPr wrap="square" rtlCol="0">
            <a:spAutoFit/>
          </a:bodyPr>
          <a:lstStyle/>
          <a:p>
            <a:pPr marL="285750" indent="-285750">
              <a:buFont typeface="Courier New" panose="02070309020205020404" pitchFamily="49" charset="0"/>
              <a:buChar char="o"/>
            </a:pPr>
            <a:r>
              <a:rPr lang="en-US" sz="1500" b="1" dirty="0">
                <a:latin typeface="Graphik" panose="020B0503030202060203" pitchFamily="34" charset="0"/>
              </a:rPr>
              <a:t>Base URL: </a:t>
            </a:r>
            <a:r>
              <a:rPr lang="en-US" sz="1500" dirty="0">
                <a:latin typeface="Graphik" panose="020B0503030202060203" pitchFamily="34" charset="0"/>
              </a:rPr>
              <a:t>/</a:t>
            </a:r>
            <a:r>
              <a:rPr lang="en-US" sz="1500" dirty="0" err="1">
                <a:latin typeface="Graphik" panose="020B0503030202060203" pitchFamily="34" charset="0"/>
              </a:rPr>
              <a:t>ms</a:t>
            </a:r>
            <a:r>
              <a:rPr lang="en-US" sz="1500" dirty="0">
                <a:latin typeface="Graphik" panose="020B0503030202060203" pitchFamily="34" charset="0"/>
              </a:rPr>
              <a:t>-product-info (defined at the class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Endpoint URL: </a:t>
            </a:r>
            <a:r>
              <a:rPr lang="en-US" sz="1500" dirty="0">
                <a:latin typeface="Graphik" panose="020B0503030202060203" pitchFamily="34" charset="0"/>
              </a:rPr>
              <a:t>/</a:t>
            </a:r>
            <a:r>
              <a:rPr lang="en-US" sz="1500" dirty="0" err="1">
                <a:latin typeface="Graphik" panose="020B0503030202060203" pitchFamily="34" charset="0"/>
              </a:rPr>
              <a:t>getProductId</a:t>
            </a:r>
            <a:r>
              <a:rPr lang="en-US" sz="1500" dirty="0">
                <a:latin typeface="Graphik" panose="020B0503030202060203" pitchFamily="34" charset="0"/>
              </a:rPr>
              <a:t>/{</a:t>
            </a:r>
            <a:r>
              <a:rPr lang="en-US" sz="1500" dirty="0" err="1">
                <a:latin typeface="Graphik" panose="020B0503030202060203" pitchFamily="34" charset="0"/>
              </a:rPr>
              <a:t>productCode</a:t>
            </a:r>
            <a:r>
              <a:rPr lang="en-US" sz="1500" dirty="0">
                <a:latin typeface="Graphik" panose="020B0503030202060203" pitchFamily="34" charset="0"/>
              </a:rPr>
              <a:t>} (defined at the method level).</a:t>
            </a:r>
          </a:p>
          <a:p>
            <a:pPr marL="285750" indent="-285750">
              <a:buFont typeface="Courier New" panose="02070309020205020404" pitchFamily="49" charset="0"/>
              <a:buChar char="o"/>
            </a:pPr>
            <a:endParaRPr lang="en-US" sz="1500" dirty="0">
              <a:latin typeface="Graphik" panose="020B0503030202060203" pitchFamily="34" charset="0"/>
            </a:endParaRPr>
          </a:p>
          <a:p>
            <a:pPr marL="285750" indent="-285750">
              <a:buFont typeface="Courier New" panose="02070309020205020404" pitchFamily="49" charset="0"/>
              <a:buChar char="o"/>
            </a:pPr>
            <a:r>
              <a:rPr lang="en-US" sz="1500" b="1" dirty="0">
                <a:latin typeface="Graphik" panose="020B0503030202060203" pitchFamily="34" charset="0"/>
              </a:rPr>
              <a:t>Function: </a:t>
            </a:r>
            <a:r>
              <a:rPr lang="en-US" sz="1500" dirty="0">
                <a:latin typeface="Graphik" panose="020B0503030202060203" pitchFamily="34" charset="0"/>
              </a:rPr>
              <a:t>Retrieves a product ID based on the </a:t>
            </a:r>
            <a:r>
              <a:rPr lang="en-US" sz="1500" dirty="0" err="1">
                <a:latin typeface="Graphik" panose="020B0503030202060203" pitchFamily="34" charset="0"/>
              </a:rPr>
              <a:t>productCode</a:t>
            </a:r>
            <a:r>
              <a:rPr lang="en-US" sz="1500" dirty="0">
                <a:latin typeface="Graphik" panose="020B0503030202060203" pitchFamily="34" charset="0"/>
              </a:rPr>
              <a:t> provided in the URL path.</a:t>
            </a:r>
          </a:p>
        </p:txBody>
      </p:sp>
    </p:spTree>
    <p:extLst>
      <p:ext uri="{BB962C8B-B14F-4D97-AF65-F5344CB8AC3E}">
        <p14:creationId xmlns:p14="http://schemas.microsoft.com/office/powerpoint/2010/main" val="2583338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Models</a:t>
            </a:r>
          </a:p>
        </p:txBody>
      </p:sp>
      <p:sp>
        <p:nvSpPr>
          <p:cNvPr id="4" name="TextBox 3">
            <a:extLst>
              <a:ext uri="{FF2B5EF4-FFF2-40B4-BE49-F238E27FC236}">
                <a16:creationId xmlns:a16="http://schemas.microsoft.com/office/drawing/2014/main" id="{623BCA2C-7A5B-15BF-70D4-AF7BDEB8AD0A}"/>
              </a:ext>
            </a:extLst>
          </p:cNvPr>
          <p:cNvSpPr txBox="1"/>
          <p:nvPr/>
        </p:nvSpPr>
        <p:spPr>
          <a:xfrm>
            <a:off x="621211" y="1276460"/>
            <a:ext cx="11039847" cy="553998"/>
          </a:xfrm>
          <a:prstGeom prst="rect">
            <a:avLst/>
          </a:prstGeom>
          <a:noFill/>
        </p:spPr>
        <p:txBody>
          <a:bodyPr wrap="square" rtlCol="0">
            <a:spAutoFit/>
          </a:bodyPr>
          <a:lstStyle/>
          <a:p>
            <a:r>
              <a:rPr lang="en-US" sz="1500" b="1" i="1" dirty="0">
                <a:solidFill>
                  <a:schemeClr val="accent5">
                    <a:lumMod val="75000"/>
                  </a:schemeClr>
                </a:solidFill>
                <a:latin typeface="Graphik" panose="020B0503030202060203" pitchFamily="34" charset="0"/>
              </a:rPr>
              <a:t>Models</a:t>
            </a:r>
            <a:r>
              <a:rPr lang="en-US" sz="1500" i="1" dirty="0">
                <a:latin typeface="Graphik" panose="020B0503030202060203" pitchFamily="34" charset="0"/>
              </a:rPr>
              <a:t> refer to the data structures that represent the format of the data exchanged between the client and the server. They define how data is structured and validated within your application.</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 name="Content Placeholder 5" descr="A screenshot of a computer&#10;&#10;Description automatically generated">
            <a:extLst>
              <a:ext uri="{FF2B5EF4-FFF2-40B4-BE49-F238E27FC236}">
                <a16:creationId xmlns:a16="http://schemas.microsoft.com/office/drawing/2014/main" id="{4F9C7BAA-E052-DFD0-C25C-85D98BF21E1E}"/>
              </a:ext>
            </a:extLst>
          </p:cNvPr>
          <p:cNvPicPr>
            <a:picLocks noGrp="1" noChangeAspect="1"/>
          </p:cNvPicPr>
          <p:nvPr/>
        </p:nvPicPr>
        <p:blipFill>
          <a:blip r:embed="rId3"/>
          <a:stretch>
            <a:fillRect/>
          </a:stretch>
        </p:blipFill>
        <p:spPr>
          <a:xfrm>
            <a:off x="621212" y="2949677"/>
            <a:ext cx="11383972" cy="3580654"/>
          </a:xfrm>
          <a:prstGeom prst="rect">
            <a:avLst/>
          </a:prstGeom>
        </p:spPr>
      </p:pic>
      <p:sp>
        <p:nvSpPr>
          <p:cNvPr id="8" name="Rectangle 1">
            <a:extLst>
              <a:ext uri="{FF2B5EF4-FFF2-40B4-BE49-F238E27FC236}">
                <a16:creationId xmlns:a16="http://schemas.microsoft.com/office/drawing/2014/main" id="{C3710237-921C-2607-BAE2-6E9E6A6984E8}"/>
              </a:ext>
            </a:extLst>
          </p:cNvPr>
          <p:cNvSpPr>
            <a:spLocks noChangeArrowheads="1"/>
          </p:cNvSpPr>
          <p:nvPr/>
        </p:nvSpPr>
        <p:spPr bwMode="auto">
          <a:xfrm>
            <a:off x="621211" y="1997652"/>
            <a:ext cx="10862866"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accent5">
                    <a:lumMod val="75000"/>
                  </a:schemeClr>
                </a:solidFill>
                <a:effectLst/>
                <a:latin typeface="Graphik" panose="020B0503030202060203" pitchFamily="34" charset="0"/>
              </a:rPr>
              <a:t>Explanation of the </a:t>
            </a:r>
            <a:r>
              <a:rPr kumimoji="0" lang="en-US" altLang="en-US" sz="1500" b="1" i="0" u="none" strike="noStrike" cap="none" normalizeH="0" baseline="0" dirty="0" err="1">
                <a:ln>
                  <a:noFill/>
                </a:ln>
                <a:solidFill>
                  <a:schemeClr val="accent5">
                    <a:lumMod val="75000"/>
                  </a:schemeClr>
                </a:solidFill>
                <a:effectLst/>
                <a:latin typeface="Graphik" panose="020B0503030202060203" pitchFamily="34" charset="0"/>
              </a:rPr>
              <a:t>ProductIdResponse</a:t>
            </a:r>
            <a:r>
              <a:rPr kumimoji="0" lang="en-US" altLang="en-US" sz="1500" b="1" i="0" u="none" strike="noStrike" cap="none" normalizeH="0" baseline="0" dirty="0">
                <a:ln>
                  <a:noFill/>
                </a:ln>
                <a:solidFill>
                  <a:schemeClr val="accent5">
                    <a:lumMod val="75000"/>
                  </a:schemeClr>
                </a:solidFill>
                <a:effectLst/>
                <a:latin typeface="Graphik" panose="020B0503030202060203" pitchFamily="34" charset="0"/>
              </a:rPr>
              <a:t>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err="1">
                <a:ln>
                  <a:noFill/>
                </a:ln>
                <a:solidFill>
                  <a:schemeClr val="accent5">
                    <a:lumMod val="60000"/>
                    <a:lumOff val="40000"/>
                  </a:schemeClr>
                </a:solidFill>
                <a:effectLst/>
                <a:latin typeface="Graphik" panose="020B0503030202060203" pitchFamily="34" charset="0"/>
              </a:rPr>
              <a:t>ProductIdResponse</a:t>
            </a:r>
            <a:r>
              <a:rPr kumimoji="0" lang="en-US" altLang="en-US" sz="1500" b="0" i="0" u="none" strike="noStrike" cap="none" normalizeH="0" baseline="0" dirty="0">
                <a:ln>
                  <a:noFill/>
                </a:ln>
                <a:solidFill>
                  <a:schemeClr val="accent5">
                    <a:lumMod val="60000"/>
                    <a:lumOff val="40000"/>
                  </a:schemeClr>
                </a:solidFill>
                <a:effectLst/>
                <a:latin typeface="Graphik" panose="020B0503030202060203" pitchFamily="34" charset="0"/>
              </a:rPr>
              <a:t> </a:t>
            </a:r>
            <a:r>
              <a:rPr kumimoji="0" lang="en-US" altLang="en-US" sz="1500" b="0" i="0" u="none" strike="noStrike" cap="none" normalizeH="0" baseline="0" dirty="0">
                <a:ln>
                  <a:noFill/>
                </a:ln>
                <a:solidFill>
                  <a:schemeClr val="tx1"/>
                </a:solidFill>
                <a:effectLst/>
                <a:latin typeface="Graphik" panose="020B0503030202060203" pitchFamily="34" charset="0"/>
              </a:rPr>
              <a:t>is a model used to define the structure of the response that the server sends back to the client when a request is made.</a:t>
            </a:r>
          </a:p>
        </p:txBody>
      </p:sp>
    </p:spTree>
    <p:extLst>
      <p:ext uri="{BB962C8B-B14F-4D97-AF65-F5344CB8AC3E}">
        <p14:creationId xmlns:p14="http://schemas.microsoft.com/office/powerpoint/2010/main" val="1067869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C9D9DF2D-1CFA-9B8D-95A8-532075173333}"/>
              </a:ext>
            </a:extLst>
          </p:cNvPr>
          <p:cNvSpPr txBox="1"/>
          <p:nvPr/>
        </p:nvSpPr>
        <p:spPr>
          <a:xfrm>
            <a:off x="641101" y="1144003"/>
            <a:ext cx="11089005" cy="1508105"/>
          </a:xfrm>
          <a:prstGeom prst="rect">
            <a:avLst/>
          </a:prstGeom>
          <a:noFill/>
        </p:spPr>
        <p:txBody>
          <a:bodyPr wrap="square" rtlCol="0">
            <a:spAutoFit/>
          </a:bodyPr>
          <a:lstStyle/>
          <a:p>
            <a:r>
              <a:rPr lang="en-US" sz="1500" dirty="0">
                <a:latin typeface="Graphik" panose="020B0503030202060203" pitchFamily="34" charset="0"/>
              </a:rPr>
              <a:t>To test the endpoints using Postman, open the Postman application and create a new request. </a:t>
            </a:r>
          </a:p>
          <a:p>
            <a:endParaRPr lang="en-US" sz="1500" dirty="0">
              <a:latin typeface="Graphik" panose="020B0503030202060203" pitchFamily="34" charset="0"/>
            </a:endParaRPr>
          </a:p>
          <a:p>
            <a:pPr marL="285750" indent="-285750">
              <a:buFont typeface="Courier New" panose="02070309020205020404" pitchFamily="49" charset="0"/>
              <a:buChar char="o"/>
            </a:pPr>
            <a:r>
              <a:rPr lang="en-US" sz="1500" dirty="0">
                <a:latin typeface="Graphik" panose="020B0503030202060203" pitchFamily="34" charset="0"/>
              </a:rPr>
              <a:t>Set the appropriate request method (such as GET, POST, PUT, or DELETE) and enter the correct URL for the endpoint you want to test. </a:t>
            </a:r>
          </a:p>
          <a:p>
            <a:pPr marL="285750" indent="-285750">
              <a:buFont typeface="Courier New" panose="02070309020205020404" pitchFamily="49" charset="0"/>
              <a:buChar char="o"/>
            </a:pPr>
            <a:r>
              <a:rPr lang="en-US" sz="1500" dirty="0">
                <a:latin typeface="Graphik" panose="020B0503030202060203" pitchFamily="34" charset="0"/>
              </a:rPr>
              <a:t>Click "Send" to make the request, and then review the response in Postman to check if it matches your expectations. This allows you to verify that your API endpoints are functioning correctly.</a:t>
            </a:r>
          </a:p>
        </p:txBody>
      </p:sp>
      <p:sp>
        <p:nvSpPr>
          <p:cNvPr id="16" name="TextBox 15">
            <a:extLst>
              <a:ext uri="{FF2B5EF4-FFF2-40B4-BE49-F238E27FC236}">
                <a16:creationId xmlns:a16="http://schemas.microsoft.com/office/drawing/2014/main" id="{714BB160-B2A3-3B20-A6E6-EEEF32C1525C}"/>
              </a:ext>
            </a:extLst>
          </p:cNvPr>
          <p:cNvSpPr txBox="1"/>
          <p:nvPr/>
        </p:nvSpPr>
        <p:spPr>
          <a:xfrm>
            <a:off x="701424" y="2890684"/>
            <a:ext cx="10015737" cy="369332"/>
          </a:xfrm>
          <a:prstGeom prst="rect">
            <a:avLst/>
          </a:prstGeom>
          <a:noFill/>
        </p:spPr>
        <p:txBody>
          <a:bodyPr wrap="square" rtlCol="0">
            <a:spAutoFit/>
          </a:bodyPr>
          <a:lstStyle/>
          <a:p>
            <a:r>
              <a:rPr lang="en-US" b="1" dirty="0">
                <a:solidFill>
                  <a:srgbClr val="00B050"/>
                </a:solidFill>
              </a:rPr>
              <a:t>Valid scenario: </a:t>
            </a:r>
            <a:r>
              <a:rPr lang="en-US" b="1" dirty="0"/>
              <a:t>GET </a:t>
            </a:r>
            <a:r>
              <a:rPr lang="en-US" b="0" i="0" dirty="0">
                <a:solidFill>
                  <a:srgbClr val="212121"/>
                </a:solidFill>
                <a:effectLst/>
                <a:highlight>
                  <a:srgbClr val="FFFFFF"/>
                </a:highlight>
                <a:latin typeface="Inter"/>
              </a:rPr>
              <a:t>http://localhost:8082/ms-product-info/getProductId/123456</a:t>
            </a:r>
            <a:endParaRPr lang="en-US" b="1" dirty="0"/>
          </a:p>
        </p:txBody>
      </p:sp>
      <p:grpSp>
        <p:nvGrpSpPr>
          <p:cNvPr id="36" name="Group 35">
            <a:extLst>
              <a:ext uri="{FF2B5EF4-FFF2-40B4-BE49-F238E27FC236}">
                <a16:creationId xmlns:a16="http://schemas.microsoft.com/office/drawing/2014/main" id="{A67E7204-8B03-BC57-DAF9-35061073F76F}"/>
              </a:ext>
            </a:extLst>
          </p:cNvPr>
          <p:cNvGrpSpPr/>
          <p:nvPr/>
        </p:nvGrpSpPr>
        <p:grpSpPr>
          <a:xfrm>
            <a:off x="701424" y="2493956"/>
            <a:ext cx="10941749" cy="3887179"/>
            <a:chOff x="701424" y="2493956"/>
            <a:chExt cx="10941749" cy="3887179"/>
          </a:xfrm>
        </p:grpSpPr>
        <p:grpSp>
          <p:nvGrpSpPr>
            <p:cNvPr id="18" name="Group 17">
              <a:extLst>
                <a:ext uri="{FF2B5EF4-FFF2-40B4-BE49-F238E27FC236}">
                  <a16:creationId xmlns:a16="http://schemas.microsoft.com/office/drawing/2014/main" id="{2A0680F0-E531-E5AE-773D-76BD4E904488}"/>
                </a:ext>
              </a:extLst>
            </p:cNvPr>
            <p:cNvGrpSpPr/>
            <p:nvPr/>
          </p:nvGrpSpPr>
          <p:grpSpPr>
            <a:xfrm>
              <a:off x="701424" y="2493956"/>
              <a:ext cx="10941749" cy="3887179"/>
              <a:chOff x="701424" y="2493956"/>
              <a:chExt cx="10941749" cy="3519941"/>
            </a:xfrm>
          </p:grpSpPr>
          <p:pic>
            <p:nvPicPr>
              <p:cNvPr id="14" name="Picture 13">
                <a:extLst>
                  <a:ext uri="{FF2B5EF4-FFF2-40B4-BE49-F238E27FC236}">
                    <a16:creationId xmlns:a16="http://schemas.microsoft.com/office/drawing/2014/main" id="{19209C66-C127-EA3C-E08E-71D62BCCED56}"/>
                  </a:ext>
                </a:extLst>
              </p:cNvPr>
              <p:cNvPicPr>
                <a:picLocks noChangeAspect="1"/>
              </p:cNvPicPr>
              <p:nvPr/>
            </p:nvPicPr>
            <p:blipFill>
              <a:blip r:embed="rId3"/>
              <a:stretch>
                <a:fillRect/>
              </a:stretch>
            </p:blipFill>
            <p:spPr>
              <a:xfrm>
                <a:off x="701424" y="3262839"/>
                <a:ext cx="10440305" cy="2751058"/>
              </a:xfrm>
              <a:prstGeom prst="rect">
                <a:avLst/>
              </a:prstGeom>
            </p:spPr>
          </p:pic>
          <p:pic>
            <p:nvPicPr>
              <p:cNvPr id="17" name="Picture 16">
                <a:extLst>
                  <a:ext uri="{FF2B5EF4-FFF2-40B4-BE49-F238E27FC236}">
                    <a16:creationId xmlns:a16="http://schemas.microsoft.com/office/drawing/2014/main" id="{468AEE04-AF35-012D-D69B-31FB4BE9A61C}"/>
                  </a:ext>
                </a:extLst>
              </p:cNvPr>
              <p:cNvPicPr>
                <a:picLocks noChangeAspect="1"/>
              </p:cNvPicPr>
              <p:nvPr/>
            </p:nvPicPr>
            <p:blipFill>
              <a:blip r:embed="rId4"/>
              <a:stretch>
                <a:fillRect/>
              </a:stretch>
            </p:blipFill>
            <p:spPr>
              <a:xfrm>
                <a:off x="9026012" y="2493956"/>
                <a:ext cx="2617161" cy="1202973"/>
              </a:xfrm>
              <a:prstGeom prst="rect">
                <a:avLst/>
              </a:prstGeom>
            </p:spPr>
          </p:pic>
        </p:grpSp>
        <p:cxnSp>
          <p:nvCxnSpPr>
            <p:cNvPr id="20" name="Connector: Curved 19">
              <a:extLst>
                <a:ext uri="{FF2B5EF4-FFF2-40B4-BE49-F238E27FC236}">
                  <a16:creationId xmlns:a16="http://schemas.microsoft.com/office/drawing/2014/main" id="{F685820C-71DD-5E8E-6762-D51F54A594C0}"/>
                </a:ext>
              </a:extLst>
            </p:cNvPr>
            <p:cNvCxnSpPr>
              <a:cxnSpLocks/>
            </p:cNvCxnSpPr>
            <p:nvPr/>
          </p:nvCxnSpPr>
          <p:spPr>
            <a:xfrm rot="10800000" flipV="1">
              <a:off x="5466736" y="3508167"/>
              <a:ext cx="4542505" cy="575885"/>
            </a:xfrm>
            <a:prstGeom prst="curvedConnector3">
              <a:avLst>
                <a:gd name="adj1" fmla="val -216"/>
              </a:avLst>
            </a:prstGeom>
            <a:ln w="317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Curved 23">
              <a:extLst>
                <a:ext uri="{FF2B5EF4-FFF2-40B4-BE49-F238E27FC236}">
                  <a16:creationId xmlns:a16="http://schemas.microsoft.com/office/drawing/2014/main" id="{4CC499FE-BF7B-B918-7F9B-7F9CFB95291B}"/>
                </a:ext>
              </a:extLst>
            </p:cNvPr>
            <p:cNvCxnSpPr/>
            <p:nvPr/>
          </p:nvCxnSpPr>
          <p:spPr>
            <a:xfrm rot="10800000" flipV="1">
              <a:off x="3333135" y="3714117"/>
              <a:ext cx="7808594" cy="2175387"/>
            </a:xfrm>
            <a:prstGeom prst="curvedConnector3">
              <a:avLst>
                <a:gd name="adj1" fmla="val -1374"/>
              </a:avLst>
            </a:prstGeom>
            <a:ln w="3175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D46A4A7-6E62-E25D-E142-61340A6C1530}"/>
                </a:ext>
              </a:extLst>
            </p:cNvPr>
            <p:cNvSpPr txBox="1"/>
            <p:nvPr/>
          </p:nvSpPr>
          <p:spPr>
            <a:xfrm>
              <a:off x="6656439" y="3631076"/>
              <a:ext cx="1573161" cy="276999"/>
            </a:xfrm>
            <a:prstGeom prst="rect">
              <a:avLst/>
            </a:prstGeom>
            <a:noFill/>
          </p:spPr>
          <p:txBody>
            <a:bodyPr wrap="square" rtlCol="0">
              <a:spAutoFit/>
            </a:bodyPr>
            <a:lstStyle/>
            <a:p>
              <a:r>
                <a:rPr lang="en-US" sz="1200" b="1" i="1" dirty="0">
                  <a:solidFill>
                    <a:schemeClr val="accent6">
                      <a:lumMod val="75000"/>
                    </a:schemeClr>
                  </a:solidFill>
                  <a:latin typeface="Graphik" panose="020B0503030202060203" pitchFamily="34" charset="0"/>
                </a:rPr>
                <a:t>Product Code</a:t>
              </a:r>
            </a:p>
          </p:txBody>
        </p:sp>
        <p:sp>
          <p:nvSpPr>
            <p:cNvPr id="31" name="TextBox 30">
              <a:extLst>
                <a:ext uri="{FF2B5EF4-FFF2-40B4-BE49-F238E27FC236}">
                  <a16:creationId xmlns:a16="http://schemas.microsoft.com/office/drawing/2014/main" id="{4CA3E3C6-525A-36D5-0C60-5C7B7468477F}"/>
                </a:ext>
              </a:extLst>
            </p:cNvPr>
            <p:cNvSpPr txBox="1"/>
            <p:nvPr/>
          </p:nvSpPr>
          <p:spPr>
            <a:xfrm>
              <a:off x="6656439" y="5346805"/>
              <a:ext cx="1573161" cy="276999"/>
            </a:xfrm>
            <a:prstGeom prst="rect">
              <a:avLst/>
            </a:prstGeom>
            <a:noFill/>
          </p:spPr>
          <p:txBody>
            <a:bodyPr wrap="square" rtlCol="0">
              <a:spAutoFit/>
            </a:bodyPr>
            <a:lstStyle/>
            <a:p>
              <a:r>
                <a:rPr lang="en-US" sz="1200" b="1" i="1" dirty="0">
                  <a:solidFill>
                    <a:schemeClr val="accent6">
                      <a:lumMod val="75000"/>
                    </a:schemeClr>
                  </a:solidFill>
                  <a:latin typeface="Graphik" panose="020B0503030202060203" pitchFamily="34" charset="0"/>
                </a:rPr>
                <a:t>Product Id</a:t>
              </a:r>
            </a:p>
          </p:txBody>
        </p:sp>
        <p:pic>
          <p:nvPicPr>
            <p:cNvPr id="33" name="Graphic 32" descr="Checkmark with solid fill">
              <a:extLst>
                <a:ext uri="{FF2B5EF4-FFF2-40B4-BE49-F238E27FC236}">
                  <a16:creationId xmlns:a16="http://schemas.microsoft.com/office/drawing/2014/main" id="{5BFD058A-5F8B-9771-3321-A43109F4CD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31006" y="3648264"/>
              <a:ext cx="276999" cy="276999"/>
            </a:xfrm>
            <a:prstGeom prst="rect">
              <a:avLst/>
            </a:prstGeom>
          </p:spPr>
        </p:pic>
        <p:pic>
          <p:nvPicPr>
            <p:cNvPr id="34" name="Graphic 33" descr="Checkmark with solid fill">
              <a:extLst>
                <a:ext uri="{FF2B5EF4-FFF2-40B4-BE49-F238E27FC236}">
                  <a16:creationId xmlns:a16="http://schemas.microsoft.com/office/drawing/2014/main" id="{647225D0-B1FA-29C6-86A3-19E137B2E7C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94082" y="5346805"/>
              <a:ext cx="276999" cy="276999"/>
            </a:xfrm>
            <a:prstGeom prst="rect">
              <a:avLst/>
            </a:prstGeom>
          </p:spPr>
        </p:pic>
      </p:grpSp>
    </p:spTree>
    <p:extLst>
      <p:ext uri="{BB962C8B-B14F-4D97-AF65-F5344CB8AC3E}">
        <p14:creationId xmlns:p14="http://schemas.microsoft.com/office/powerpoint/2010/main" val="1784584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Invalid input: </a:t>
            </a:r>
            <a:r>
              <a:rPr lang="en-US" b="1" dirty="0"/>
              <a:t>GET</a:t>
            </a:r>
            <a:r>
              <a:rPr lang="en-US" b="1" dirty="0">
                <a:solidFill>
                  <a:srgbClr val="FF0000"/>
                </a:solidFill>
              </a:rPr>
              <a:t> </a:t>
            </a:r>
            <a:r>
              <a:rPr lang="en-US" b="0" i="0" dirty="0">
                <a:solidFill>
                  <a:srgbClr val="212121"/>
                </a:solidFill>
                <a:effectLst/>
                <a:highlight>
                  <a:srgbClr val="FFFFFF"/>
                </a:highlight>
                <a:latin typeface="Inter"/>
              </a:rPr>
              <a:t>http://localhost:8082/ms-product-info/getProductId/12345</a:t>
            </a:r>
            <a:endParaRPr lang="en-US" b="1" dirty="0"/>
          </a:p>
        </p:txBody>
      </p:sp>
      <p:grpSp>
        <p:nvGrpSpPr>
          <p:cNvPr id="35" name="Group 34">
            <a:extLst>
              <a:ext uri="{FF2B5EF4-FFF2-40B4-BE49-F238E27FC236}">
                <a16:creationId xmlns:a16="http://schemas.microsoft.com/office/drawing/2014/main" id="{2EAA9C64-978F-8D79-4E69-905628A2D9B5}"/>
              </a:ext>
            </a:extLst>
          </p:cNvPr>
          <p:cNvGrpSpPr/>
          <p:nvPr/>
        </p:nvGrpSpPr>
        <p:grpSpPr>
          <a:xfrm>
            <a:off x="724286" y="1439813"/>
            <a:ext cx="10766290" cy="5016302"/>
            <a:chOff x="724286" y="1439813"/>
            <a:chExt cx="10766290" cy="5016302"/>
          </a:xfrm>
        </p:grpSpPr>
        <p:pic>
          <p:nvPicPr>
            <p:cNvPr id="5" name="Picture 4">
              <a:extLst>
                <a:ext uri="{FF2B5EF4-FFF2-40B4-BE49-F238E27FC236}">
                  <a16:creationId xmlns:a16="http://schemas.microsoft.com/office/drawing/2014/main" id="{D6E507A8-0708-85D8-83E6-220B20A13B13}"/>
                </a:ext>
              </a:extLst>
            </p:cNvPr>
            <p:cNvPicPr>
              <a:picLocks noChangeAspect="1"/>
            </p:cNvPicPr>
            <p:nvPr/>
          </p:nvPicPr>
          <p:blipFill>
            <a:blip r:embed="rId3"/>
            <a:stretch>
              <a:fillRect/>
            </a:stretch>
          </p:blipFill>
          <p:spPr>
            <a:xfrm>
              <a:off x="724286" y="2367501"/>
              <a:ext cx="10417443" cy="3858060"/>
            </a:xfrm>
            <a:prstGeom prst="rect">
              <a:avLst/>
            </a:prstGeom>
          </p:spPr>
        </p:pic>
        <p:pic>
          <p:nvPicPr>
            <p:cNvPr id="6" name="Picture 5">
              <a:extLst>
                <a:ext uri="{FF2B5EF4-FFF2-40B4-BE49-F238E27FC236}">
                  <a16:creationId xmlns:a16="http://schemas.microsoft.com/office/drawing/2014/main" id="{86BE5484-16F3-AE2E-5897-13F1FDC37A3A}"/>
                </a:ext>
              </a:extLst>
            </p:cNvPr>
            <p:cNvPicPr>
              <a:picLocks noChangeAspect="1"/>
            </p:cNvPicPr>
            <p:nvPr/>
          </p:nvPicPr>
          <p:blipFill>
            <a:blip r:embed="rId4"/>
            <a:stretch>
              <a:fillRect/>
            </a:stretch>
          </p:blipFill>
          <p:spPr>
            <a:xfrm>
              <a:off x="8873415" y="1439813"/>
              <a:ext cx="2617161" cy="1202973"/>
            </a:xfrm>
            <a:prstGeom prst="rect">
              <a:avLst/>
            </a:prstGeom>
          </p:spPr>
        </p:pic>
        <p:cxnSp>
          <p:nvCxnSpPr>
            <p:cNvPr id="8" name="Connector: Curved 7">
              <a:extLst>
                <a:ext uri="{FF2B5EF4-FFF2-40B4-BE49-F238E27FC236}">
                  <a16:creationId xmlns:a16="http://schemas.microsoft.com/office/drawing/2014/main" id="{50C3A853-3E69-3B05-8210-14832167B1B9}"/>
                </a:ext>
              </a:extLst>
            </p:cNvPr>
            <p:cNvCxnSpPr>
              <a:cxnSpLocks/>
            </p:cNvCxnSpPr>
            <p:nvPr/>
          </p:nvCxnSpPr>
          <p:spPr>
            <a:xfrm rot="10800000" flipV="1">
              <a:off x="5250433" y="2392155"/>
              <a:ext cx="4768639" cy="862319"/>
            </a:xfrm>
            <a:prstGeom prst="curvedConnector3">
              <a:avLst>
                <a:gd name="adj1" fmla="val -722"/>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Multiplication Sign 12">
              <a:extLst>
                <a:ext uri="{FF2B5EF4-FFF2-40B4-BE49-F238E27FC236}">
                  <a16:creationId xmlns:a16="http://schemas.microsoft.com/office/drawing/2014/main" id="{D88CCDF2-B22E-A085-8E53-EC9FE7808E09}"/>
                </a:ext>
              </a:extLst>
            </p:cNvPr>
            <p:cNvSpPr/>
            <p:nvPr/>
          </p:nvSpPr>
          <p:spPr>
            <a:xfrm>
              <a:off x="7285704" y="2861185"/>
              <a:ext cx="943896" cy="56781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Connector: Elbow 18">
              <a:extLst>
                <a:ext uri="{FF2B5EF4-FFF2-40B4-BE49-F238E27FC236}">
                  <a16:creationId xmlns:a16="http://schemas.microsoft.com/office/drawing/2014/main" id="{D909785A-1F26-8E72-15DD-DBCFB66C9FDB}"/>
                </a:ext>
              </a:extLst>
            </p:cNvPr>
            <p:cNvCxnSpPr>
              <a:cxnSpLocks/>
            </p:cNvCxnSpPr>
            <p:nvPr/>
          </p:nvCxnSpPr>
          <p:spPr>
            <a:xfrm rot="10800000" flipV="1">
              <a:off x="2851355" y="4364972"/>
              <a:ext cx="5088196" cy="1042965"/>
            </a:xfrm>
            <a:prstGeom prst="bentConnector3">
              <a:avLst>
                <a:gd name="adj1" fmla="val -48"/>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CB2CB9F4-2466-A7D9-9F4E-E73005E23A33}"/>
                </a:ext>
              </a:extLst>
            </p:cNvPr>
            <p:cNvSpPr txBox="1"/>
            <p:nvPr/>
          </p:nvSpPr>
          <p:spPr>
            <a:xfrm>
              <a:off x="8051056" y="4886455"/>
              <a:ext cx="2979167" cy="1569660"/>
            </a:xfrm>
            <a:prstGeom prst="rect">
              <a:avLst/>
            </a:prstGeom>
            <a:noFill/>
          </p:spPr>
          <p:txBody>
            <a:bodyPr wrap="square" rtlCol="0">
              <a:spAutoFit/>
            </a:bodyPr>
            <a:lstStyle/>
            <a:p>
              <a:r>
                <a:rPr lang="en-US" sz="1200" dirty="0">
                  <a:latin typeface="Graphik" panose="020B0503030202060203" pitchFamily="34" charset="0"/>
                </a:rPr>
                <a:t>Ensure that the status code returned in Postman matches the expected status code for your request. </a:t>
              </a:r>
            </a:p>
            <a:p>
              <a:endParaRPr lang="en-US" sz="1200" dirty="0">
                <a:latin typeface="Graphik" panose="020B0503030202060203" pitchFamily="34" charset="0"/>
              </a:endParaRPr>
            </a:p>
            <a:p>
              <a:r>
                <a:rPr lang="en-US" sz="1200" dirty="0">
                  <a:latin typeface="Graphik" panose="020B0503030202060203" pitchFamily="34" charset="0"/>
                </a:rPr>
                <a:t>This confirms that the response from the server aligns with the expected outcome for the scenario being tested."</a:t>
              </a:r>
            </a:p>
          </p:txBody>
        </p:sp>
      </p:grpSp>
    </p:spTree>
    <p:extLst>
      <p:ext uri="{BB962C8B-B14F-4D97-AF65-F5344CB8AC3E}">
        <p14:creationId xmlns:p14="http://schemas.microsoft.com/office/powerpoint/2010/main" val="569837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How to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14BB160-B2A3-3B20-A6E6-EEEF32C1525C}"/>
              </a:ext>
            </a:extLst>
          </p:cNvPr>
          <p:cNvSpPr txBox="1"/>
          <p:nvPr/>
        </p:nvSpPr>
        <p:spPr>
          <a:xfrm>
            <a:off x="612934" y="1219200"/>
            <a:ext cx="9003014" cy="369332"/>
          </a:xfrm>
          <a:prstGeom prst="rect">
            <a:avLst/>
          </a:prstGeom>
          <a:noFill/>
        </p:spPr>
        <p:txBody>
          <a:bodyPr wrap="square" rtlCol="0">
            <a:spAutoFit/>
          </a:bodyPr>
          <a:lstStyle/>
          <a:p>
            <a:r>
              <a:rPr lang="en-US" b="1" dirty="0">
                <a:solidFill>
                  <a:srgbClr val="FF0000"/>
                </a:solidFill>
              </a:rPr>
              <a:t>Technical Error: </a:t>
            </a:r>
            <a:r>
              <a:rPr lang="en-US" b="1" dirty="0"/>
              <a:t>GET </a:t>
            </a:r>
            <a:r>
              <a:rPr lang="en-US" b="0" i="0" dirty="0">
                <a:solidFill>
                  <a:srgbClr val="212121"/>
                </a:solidFill>
                <a:effectLst/>
                <a:highlight>
                  <a:srgbClr val="FFFFFF"/>
                </a:highlight>
                <a:latin typeface="Inter"/>
              </a:rPr>
              <a:t>http://localhost:8082/ms-product-info/getProductId/12345</a:t>
            </a:r>
            <a:endParaRPr lang="en-US" b="1" dirty="0"/>
          </a:p>
        </p:txBody>
      </p:sp>
      <p:grpSp>
        <p:nvGrpSpPr>
          <p:cNvPr id="14" name="Group 13">
            <a:extLst>
              <a:ext uri="{FF2B5EF4-FFF2-40B4-BE49-F238E27FC236}">
                <a16:creationId xmlns:a16="http://schemas.microsoft.com/office/drawing/2014/main" id="{098B367B-311C-6075-7BD8-A6C6B6A04259}"/>
              </a:ext>
            </a:extLst>
          </p:cNvPr>
          <p:cNvGrpSpPr/>
          <p:nvPr/>
        </p:nvGrpSpPr>
        <p:grpSpPr>
          <a:xfrm>
            <a:off x="724286" y="959958"/>
            <a:ext cx="11286509" cy="5431010"/>
            <a:chOff x="724286" y="959958"/>
            <a:chExt cx="11286509" cy="5431010"/>
          </a:xfrm>
        </p:grpSpPr>
        <p:pic>
          <p:nvPicPr>
            <p:cNvPr id="6" name="Picture 5">
              <a:extLst>
                <a:ext uri="{FF2B5EF4-FFF2-40B4-BE49-F238E27FC236}">
                  <a16:creationId xmlns:a16="http://schemas.microsoft.com/office/drawing/2014/main" id="{86BE5484-16F3-AE2E-5897-13F1FDC37A3A}"/>
                </a:ext>
              </a:extLst>
            </p:cNvPr>
            <p:cNvPicPr>
              <a:picLocks noChangeAspect="1"/>
            </p:cNvPicPr>
            <p:nvPr/>
          </p:nvPicPr>
          <p:blipFill>
            <a:blip r:embed="rId3"/>
            <a:stretch>
              <a:fillRect/>
            </a:stretch>
          </p:blipFill>
          <p:spPr>
            <a:xfrm>
              <a:off x="8873415" y="1439813"/>
              <a:ext cx="2617161" cy="1202973"/>
            </a:xfrm>
            <a:prstGeom prst="rect">
              <a:avLst/>
            </a:prstGeom>
          </p:spPr>
        </p:pic>
        <p:sp>
          <p:nvSpPr>
            <p:cNvPr id="4" name="Multiplication Sign 3">
              <a:extLst>
                <a:ext uri="{FF2B5EF4-FFF2-40B4-BE49-F238E27FC236}">
                  <a16:creationId xmlns:a16="http://schemas.microsoft.com/office/drawing/2014/main" id="{E34C7AE9-6C61-BED0-391A-7895EAFCC683}"/>
                </a:ext>
              </a:extLst>
            </p:cNvPr>
            <p:cNvSpPr/>
            <p:nvPr/>
          </p:nvSpPr>
          <p:spPr>
            <a:xfrm>
              <a:off x="8353195" y="959958"/>
              <a:ext cx="3657600" cy="2201875"/>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7637C69-020C-8724-CB84-8A59DF081E88}"/>
                </a:ext>
              </a:extLst>
            </p:cNvPr>
            <p:cNvPicPr>
              <a:picLocks noChangeAspect="1"/>
            </p:cNvPicPr>
            <p:nvPr/>
          </p:nvPicPr>
          <p:blipFill>
            <a:blip r:embed="rId4"/>
            <a:stretch>
              <a:fillRect/>
            </a:stretch>
          </p:blipFill>
          <p:spPr>
            <a:xfrm>
              <a:off x="724286" y="2863398"/>
              <a:ext cx="10417443" cy="3527570"/>
            </a:xfrm>
            <a:prstGeom prst="rect">
              <a:avLst/>
            </a:prstGeom>
          </p:spPr>
        </p:pic>
        <p:cxnSp>
          <p:nvCxnSpPr>
            <p:cNvPr id="10" name="Connector: Elbow 9">
              <a:extLst>
                <a:ext uri="{FF2B5EF4-FFF2-40B4-BE49-F238E27FC236}">
                  <a16:creationId xmlns:a16="http://schemas.microsoft.com/office/drawing/2014/main" id="{3461C24D-A6F5-CCB0-3BEE-BC6DB5453B66}"/>
                </a:ext>
              </a:extLst>
            </p:cNvPr>
            <p:cNvCxnSpPr>
              <a:cxnSpLocks/>
            </p:cNvCxnSpPr>
            <p:nvPr/>
          </p:nvCxnSpPr>
          <p:spPr>
            <a:xfrm rot="10800000" flipV="1">
              <a:off x="2743201" y="4709652"/>
              <a:ext cx="5063613" cy="845768"/>
            </a:xfrm>
            <a:prstGeom prst="bentConnector3">
              <a:avLst>
                <a:gd name="adj1" fmla="val -29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7857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Class Diagram</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6B432A5A-E7B6-0D8C-692A-2A7DCFCA9DF7}"/>
              </a:ext>
            </a:extLst>
          </p:cNvPr>
          <p:cNvSpPr txBox="1"/>
          <p:nvPr/>
        </p:nvSpPr>
        <p:spPr>
          <a:xfrm>
            <a:off x="580103" y="1220694"/>
            <a:ext cx="4434348" cy="1938992"/>
          </a:xfrm>
          <a:prstGeom prst="rect">
            <a:avLst/>
          </a:prstGeom>
          <a:noFill/>
        </p:spPr>
        <p:txBody>
          <a:bodyPr wrap="square">
            <a:spAutoFit/>
          </a:bodyPr>
          <a:lstStyle/>
          <a:p>
            <a:r>
              <a:rPr lang="en-US" sz="1500" i="1" dirty="0">
                <a:latin typeface="Graphik" panose="020B0503030202060203" pitchFamily="34" charset="0"/>
              </a:rPr>
              <a:t>A </a:t>
            </a:r>
            <a:r>
              <a:rPr lang="en-US" sz="1500" b="1" i="1" dirty="0">
                <a:solidFill>
                  <a:schemeClr val="accent5">
                    <a:lumMod val="75000"/>
                  </a:schemeClr>
                </a:solidFill>
                <a:latin typeface="Graphik" panose="020B0503030202060203" pitchFamily="34" charset="0"/>
              </a:rPr>
              <a:t>class diagram </a:t>
            </a:r>
            <a:r>
              <a:rPr lang="en-US" sz="1500" i="1" dirty="0">
                <a:latin typeface="Graphik" panose="020B0503030202060203" pitchFamily="34" charset="0"/>
              </a:rPr>
              <a:t>is a type of static structure diagram in the Unified Modeling Language (UML) that describes the structure of a system by showing its classes, attributes, operations (or methods), and the relationships among objects. It is a blueprint of the system's design and is used to visualize, specify, construct, and document the artifacts of a software system.</a:t>
            </a:r>
          </a:p>
        </p:txBody>
      </p:sp>
      <p:pic>
        <p:nvPicPr>
          <p:cNvPr id="13" name="Picture 12">
            <a:extLst>
              <a:ext uri="{FF2B5EF4-FFF2-40B4-BE49-F238E27FC236}">
                <a16:creationId xmlns:a16="http://schemas.microsoft.com/office/drawing/2014/main" id="{4CA6E3F6-F63E-B5BE-8726-5D26D3D94746}"/>
              </a:ext>
            </a:extLst>
          </p:cNvPr>
          <p:cNvPicPr>
            <a:picLocks noChangeAspect="1"/>
          </p:cNvPicPr>
          <p:nvPr/>
        </p:nvPicPr>
        <p:blipFill>
          <a:blip r:embed="rId3"/>
          <a:stretch>
            <a:fillRect/>
          </a:stretch>
        </p:blipFill>
        <p:spPr>
          <a:xfrm>
            <a:off x="5142272" y="1153254"/>
            <a:ext cx="6921910" cy="5149223"/>
          </a:xfrm>
          <a:prstGeom prst="rect">
            <a:avLst/>
          </a:prstGeom>
        </p:spPr>
      </p:pic>
      <p:sp>
        <p:nvSpPr>
          <p:cNvPr id="15" name="TextBox 14">
            <a:extLst>
              <a:ext uri="{FF2B5EF4-FFF2-40B4-BE49-F238E27FC236}">
                <a16:creationId xmlns:a16="http://schemas.microsoft.com/office/drawing/2014/main" id="{12BF1011-2B3D-7153-4D10-609DC5493061}"/>
              </a:ext>
            </a:extLst>
          </p:cNvPr>
          <p:cNvSpPr txBox="1"/>
          <p:nvPr/>
        </p:nvSpPr>
        <p:spPr>
          <a:xfrm>
            <a:off x="580103" y="4784693"/>
            <a:ext cx="4434348" cy="646331"/>
          </a:xfrm>
          <a:prstGeom prst="rect">
            <a:avLst/>
          </a:prstGeom>
          <a:noFill/>
        </p:spPr>
        <p:txBody>
          <a:bodyPr wrap="square">
            <a:spAutoFit/>
          </a:bodyPr>
          <a:lstStyle/>
          <a:p>
            <a:r>
              <a:rPr lang="en-US" b="1" dirty="0" err="1"/>
              <a:t>readFile</a:t>
            </a:r>
            <a:r>
              <a:rPr lang="en-US" b="1" dirty="0"/>
              <a:t>() </a:t>
            </a:r>
            <a:r>
              <a:rPr lang="en-US" dirty="0"/>
              <a:t>method should be called within the </a:t>
            </a:r>
            <a:r>
              <a:rPr lang="en-US" b="1" dirty="0" err="1"/>
              <a:t>getProductId</a:t>
            </a:r>
            <a:r>
              <a:rPr lang="en-US" b="1" dirty="0"/>
              <a:t>() </a:t>
            </a:r>
            <a:r>
              <a:rPr lang="en-US" dirty="0"/>
              <a:t>method</a:t>
            </a:r>
          </a:p>
        </p:txBody>
      </p:sp>
    </p:spTree>
    <p:extLst>
      <p:ext uri="{BB962C8B-B14F-4D97-AF65-F5344CB8AC3E}">
        <p14:creationId xmlns:p14="http://schemas.microsoft.com/office/powerpoint/2010/main" val="3156458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Unit Test</a:t>
            </a:r>
          </a:p>
        </p:txBody>
      </p:sp>
      <p:sp>
        <p:nvSpPr>
          <p:cNvPr id="3" name="Rectangle 1">
            <a:extLst>
              <a:ext uri="{FF2B5EF4-FFF2-40B4-BE49-F238E27FC236}">
                <a16:creationId xmlns:a16="http://schemas.microsoft.com/office/drawing/2014/main" id="{D30A1A6F-9EE8-6CF2-FADC-0BEAB5B1C11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the objectives?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8" name="Table 7">
            <a:extLst>
              <a:ext uri="{FF2B5EF4-FFF2-40B4-BE49-F238E27FC236}">
                <a16:creationId xmlns:a16="http://schemas.microsoft.com/office/drawing/2014/main" id="{296350AF-54EF-1983-AE4D-B63B5834A431}"/>
              </a:ext>
            </a:extLst>
          </p:cNvPr>
          <p:cNvGraphicFramePr>
            <a:graphicFrameLocks noGrp="1"/>
          </p:cNvGraphicFramePr>
          <p:nvPr>
            <p:extLst>
              <p:ext uri="{D42A27DB-BD31-4B8C-83A1-F6EECF244321}">
                <p14:modId xmlns:p14="http://schemas.microsoft.com/office/powerpoint/2010/main" val="182094067"/>
              </p:ext>
            </p:extLst>
          </p:nvPr>
        </p:nvGraphicFramePr>
        <p:xfrm>
          <a:off x="113070" y="3782885"/>
          <a:ext cx="11965860" cy="2849313"/>
        </p:xfrm>
        <a:graphic>
          <a:graphicData uri="http://schemas.openxmlformats.org/drawingml/2006/table">
            <a:tbl>
              <a:tblPr firstRow="1" bandRow="1">
                <a:tableStyleId>{5C22544A-7EE6-4342-B048-85BDC9FD1C3A}</a:tableStyleId>
              </a:tblPr>
              <a:tblGrid>
                <a:gridCol w="2394319">
                  <a:extLst>
                    <a:ext uri="{9D8B030D-6E8A-4147-A177-3AD203B41FA5}">
                      <a16:colId xmlns:a16="http://schemas.microsoft.com/office/drawing/2014/main" val="229719845"/>
                    </a:ext>
                  </a:extLst>
                </a:gridCol>
                <a:gridCol w="2394319">
                  <a:extLst>
                    <a:ext uri="{9D8B030D-6E8A-4147-A177-3AD203B41FA5}">
                      <a16:colId xmlns:a16="http://schemas.microsoft.com/office/drawing/2014/main" val="2553141794"/>
                    </a:ext>
                  </a:extLst>
                </a:gridCol>
                <a:gridCol w="2394319">
                  <a:extLst>
                    <a:ext uri="{9D8B030D-6E8A-4147-A177-3AD203B41FA5}">
                      <a16:colId xmlns:a16="http://schemas.microsoft.com/office/drawing/2014/main" val="3409385528"/>
                    </a:ext>
                  </a:extLst>
                </a:gridCol>
                <a:gridCol w="2332264">
                  <a:extLst>
                    <a:ext uri="{9D8B030D-6E8A-4147-A177-3AD203B41FA5}">
                      <a16:colId xmlns:a16="http://schemas.microsoft.com/office/drawing/2014/main" val="569313396"/>
                    </a:ext>
                  </a:extLst>
                </a:gridCol>
                <a:gridCol w="2450639">
                  <a:extLst>
                    <a:ext uri="{9D8B030D-6E8A-4147-A177-3AD203B41FA5}">
                      <a16:colId xmlns:a16="http://schemas.microsoft.com/office/drawing/2014/main" val="851850581"/>
                    </a:ext>
                  </a:extLst>
                </a:gridCol>
              </a:tblGrid>
              <a:tr h="370840">
                <a:tc>
                  <a:txBody>
                    <a:bodyPr/>
                    <a:lstStyle/>
                    <a:p>
                      <a:pPr lvl="0" algn="ctr">
                        <a:buNone/>
                      </a:pPr>
                      <a:r>
                        <a:rPr lang="en-US" sz="1500" dirty="0">
                          <a:latin typeface="Graphik" panose="020B0503030202060203" pitchFamily="34" charset="0"/>
                        </a:rPr>
                        <a:t>Test Method Name</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Method to Test</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Description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Test Condition</a:t>
                      </a:r>
                    </a:p>
                  </a:txBody>
                  <a:tcPr>
                    <a:solidFill>
                      <a:schemeClr val="accent5">
                        <a:lumMod val="75000"/>
                      </a:schemeClr>
                    </a:solidFill>
                  </a:tcPr>
                </a:tc>
                <a:tc>
                  <a:txBody>
                    <a:bodyPr/>
                    <a:lstStyle/>
                    <a:p>
                      <a:pPr lvl="0" algn="ctr">
                        <a:buNone/>
                      </a:pPr>
                      <a:r>
                        <a:rPr lang="en-US" sz="1500" dirty="0">
                          <a:latin typeface="Graphik" panose="020B0503030202060203" pitchFamily="34" charset="0"/>
                        </a:rPr>
                        <a:t>Expected Result</a:t>
                      </a:r>
                    </a:p>
                  </a:txBody>
                  <a:tcPr>
                    <a:solidFill>
                      <a:schemeClr val="accent5">
                        <a:lumMod val="75000"/>
                      </a:schemeClr>
                    </a:solidFill>
                  </a:tcPr>
                </a:tc>
                <a:extLst>
                  <a:ext uri="{0D108BD9-81ED-4DB2-BD59-A6C34878D82A}">
                    <a16:rowId xmlns:a16="http://schemas.microsoft.com/office/drawing/2014/main" val="3575385778"/>
                  </a:ext>
                </a:extLst>
              </a:tr>
              <a:tr h="370840">
                <a:tc>
                  <a:txBody>
                    <a:bodyPr/>
                    <a:lstStyle/>
                    <a:p>
                      <a:pPr lvl="0">
                        <a:buNone/>
                      </a:pPr>
                      <a:r>
                        <a:rPr lang="en-US" sz="1000" b="0" i="0" u="none" strike="noStrike" noProof="0" dirty="0" err="1">
                          <a:latin typeface="Graphik" panose="020B0503030202060203" pitchFamily="34" charset="0"/>
                        </a:rPr>
                        <a:t>testGetProductId_ValidProductCode</a:t>
                      </a:r>
                      <a:endParaRPr lang="en-US" sz="1000" b="0" dirty="0">
                        <a:latin typeface="Graphik" panose="020B0503030202060203" pitchFamily="34" charset="0"/>
                      </a:endParaRPr>
                    </a:p>
                  </a:txBody>
                  <a:tcPr/>
                </a:tc>
                <a:tc>
                  <a:txBody>
                    <a:bodyPr/>
                    <a:lstStyle/>
                    <a:p>
                      <a:pPr lvl="0">
                        <a:buNone/>
                      </a:pPr>
                      <a:r>
                        <a:rPr lang="en-US" sz="1000" dirty="0" err="1">
                          <a:latin typeface="Graphik" panose="020B0503030202060203" pitchFamily="34" charset="0"/>
                        </a:rPr>
                        <a:t>ProductServiceImpl.getProductId</a:t>
                      </a:r>
                      <a:endParaRPr lang="en-US" sz="1000" dirty="0">
                        <a:latin typeface="Graphik" panose="020B0503030202060203" pitchFamily="34" charset="0"/>
                      </a:endParaRPr>
                    </a:p>
                  </a:txBody>
                  <a:tcPr/>
                </a:tc>
                <a:tc>
                  <a:txBody>
                    <a:bodyPr/>
                    <a:lstStyle/>
                    <a:p>
                      <a:pPr lvl="0">
                        <a:buNone/>
                      </a:pPr>
                      <a:r>
                        <a:rPr lang="en-US" sz="1000" b="0" i="0" u="none" strike="noStrike" noProof="0" dirty="0">
                          <a:latin typeface="Graphik" panose="020B0503030202060203" pitchFamily="34" charset="0"/>
                        </a:rPr>
                        <a:t>Get the product id of a valid product code.</a:t>
                      </a:r>
                      <a:endParaRPr lang="en-US" sz="1000" dirty="0">
                        <a:latin typeface="Graphik" panose="020B0503030202060203" pitchFamily="34" charset="0"/>
                      </a:endParaRPr>
                    </a:p>
                  </a:txBody>
                  <a:tcPr/>
                </a:tc>
                <a:tc>
                  <a:txBody>
                    <a:bodyPr/>
                    <a:lstStyle/>
                    <a:p>
                      <a:pPr lvl="0" algn="l">
                        <a:lnSpc>
                          <a:spcPct val="100000"/>
                        </a:lnSpc>
                        <a:spcBef>
                          <a:spcPts val="0"/>
                        </a:spcBef>
                        <a:spcAft>
                          <a:spcPts val="0"/>
                        </a:spcAft>
                        <a:buNone/>
                      </a:pPr>
                      <a:r>
                        <a:rPr lang="en-US" sz="1000" b="0" i="0" u="none" strike="noStrike" noProof="0" dirty="0">
                          <a:latin typeface="Graphik" panose="020B0503030202060203" pitchFamily="34" charset="0"/>
                        </a:rPr>
                        <a:t>Call </a:t>
                      </a:r>
                      <a:r>
                        <a:rPr lang="en-US" sz="1000" b="0" i="0" u="none" strike="noStrike" noProof="0" dirty="0" err="1">
                          <a:latin typeface="Graphik" panose="020B0503030202060203" pitchFamily="34" charset="0"/>
                        </a:rPr>
                        <a:t>ProductServiceImpl.getProductId</a:t>
                      </a:r>
                      <a:endParaRPr lang="en-US" sz="1000" b="0" i="0" u="none" strike="noStrike" noProof="0" dirty="0">
                        <a:latin typeface="Graphik" panose="020B0503030202060203" pitchFamily="34" charset="0"/>
                      </a:endParaRPr>
                    </a:p>
                    <a:p>
                      <a:pPr lvl="0" algn="l">
                        <a:lnSpc>
                          <a:spcPct val="100000"/>
                        </a:lnSpc>
                        <a:spcBef>
                          <a:spcPts val="0"/>
                        </a:spcBef>
                        <a:spcAft>
                          <a:spcPts val="0"/>
                        </a:spcAft>
                        <a:buNone/>
                      </a:pPr>
                      <a:r>
                        <a:rPr lang="en-US" sz="1000" b="0" i="0" u="none" strike="noStrike" noProof="0" dirty="0">
                          <a:latin typeface="Graphik" panose="020B0503030202060203" pitchFamily="34" charset="0"/>
                        </a:rPr>
                        <a:t>.</a:t>
                      </a:r>
                      <a:r>
                        <a:rPr lang="en-US" sz="1000" b="0" i="0" u="none" strike="noStrike" noProof="0" dirty="0" err="1">
                          <a:latin typeface="Graphik" panose="020B0503030202060203" pitchFamily="34" charset="0"/>
                        </a:rPr>
                        <a:t>getProductId</a:t>
                      </a:r>
                      <a:r>
                        <a:rPr lang="en-US" sz="1000" b="0" i="0" u="none" strike="noStrike" noProof="0" dirty="0">
                          <a:latin typeface="Graphik" panose="020B0503030202060203" pitchFamily="34" charset="0"/>
                        </a:rPr>
                        <a:t>("123456")</a:t>
                      </a:r>
                      <a:endParaRPr lang="en-US" sz="1000" dirty="0">
                        <a:latin typeface="Graphik" panose="020B0503030202060203" pitchFamily="34" charset="0"/>
                      </a:endParaRPr>
                    </a:p>
                  </a:txBody>
                  <a:tcPr/>
                </a:tc>
                <a:tc>
                  <a:txBody>
                    <a:bodyPr/>
                    <a:lstStyle/>
                    <a:p>
                      <a:pPr lvl="0">
                        <a:buNone/>
                      </a:pPr>
                      <a:r>
                        <a:rPr lang="en-US" sz="1000" b="0" i="0" u="none" strike="noStrike" noProof="0" dirty="0">
                          <a:solidFill>
                            <a:srgbClr val="000000"/>
                          </a:solidFill>
                          <a:latin typeface="Graphik" panose="020B0503030202060203" pitchFamily="34" charset="0"/>
                        </a:rPr>
                        <a:t>Verify that the returned data includes the following</a:t>
                      </a:r>
                    </a:p>
                    <a:p>
                      <a:pPr lvl="0">
                        <a:buNone/>
                      </a:pPr>
                      <a:r>
                        <a:rPr lang="en-US" sz="1000" b="0" i="0" u="none" strike="noStrike" noProof="0" dirty="0">
                          <a:solidFill>
                            <a:srgbClr val="000000"/>
                          </a:solidFill>
                          <a:latin typeface="Graphik" panose="020B0503030202060203" pitchFamily="34" charset="0"/>
                        </a:rPr>
                        <a:t>     </a:t>
                      </a:r>
                      <a:r>
                        <a:rPr lang="en-US" sz="1000" b="1" i="0" u="none" strike="noStrike" noProof="0" dirty="0" err="1">
                          <a:solidFill>
                            <a:srgbClr val="000000"/>
                          </a:solidFill>
                          <a:latin typeface="Graphik" panose="020B0503030202060203" pitchFamily="34" charset="0"/>
                        </a:rPr>
                        <a:t>productId</a:t>
                      </a:r>
                      <a:r>
                        <a:rPr lang="en-US" sz="1000" b="0" i="0" u="none" strike="noStrike" noProof="0" dirty="0">
                          <a:solidFill>
                            <a:srgbClr val="000000"/>
                          </a:solidFill>
                          <a:latin typeface="Graphik" panose="020B0503030202060203" pitchFamily="34" charset="0"/>
                        </a:rPr>
                        <a:t>: "1234567"</a:t>
                      </a:r>
                    </a:p>
                    <a:p>
                      <a:pPr lvl="0">
                        <a:buNone/>
                      </a:pPr>
                      <a:endParaRPr lang="en-US" sz="1000" b="0" i="0" u="none" strike="noStrike" noProof="0" dirty="0">
                        <a:solidFill>
                          <a:srgbClr val="000000"/>
                        </a:solidFill>
                        <a:latin typeface="Graphik" panose="020B0503030202060203" pitchFamily="34" charset="0"/>
                      </a:endParaRPr>
                    </a:p>
                  </a:txBody>
                  <a:tcPr/>
                </a:tc>
                <a:extLst>
                  <a:ext uri="{0D108BD9-81ED-4DB2-BD59-A6C34878D82A}">
                    <a16:rowId xmlns:a16="http://schemas.microsoft.com/office/drawing/2014/main" val="3540173254"/>
                  </a:ext>
                </a:extLst>
              </a:tr>
              <a:tr h="1777433">
                <a:tc>
                  <a:txBody>
                    <a:bodyPr/>
                    <a:lstStyle/>
                    <a:p>
                      <a:pPr lvl="0">
                        <a:buNone/>
                      </a:pPr>
                      <a:r>
                        <a:rPr lang="en-US" sz="1000" b="0" i="0" u="none" strike="noStrike" noProof="0" dirty="0" err="1">
                          <a:latin typeface="Graphik" panose="020B0503030202060203" pitchFamily="34" charset="0"/>
                        </a:rPr>
                        <a:t>testGetProductId_InvalidProductCode</a:t>
                      </a:r>
                      <a:endParaRPr lang="en-US" sz="1000" b="0" dirty="0">
                        <a:latin typeface="Graphik" panose="020B0503030202060203" pitchFamily="34" charset="0"/>
                      </a:endParaRPr>
                    </a:p>
                  </a:txBody>
                  <a:tcPr/>
                </a:tc>
                <a:tc>
                  <a:txBody>
                    <a:bodyPr/>
                    <a:lstStyle/>
                    <a:p>
                      <a:pPr lvl="0">
                        <a:buNone/>
                      </a:pPr>
                      <a:r>
                        <a:rPr lang="en-US" sz="1000" dirty="0" err="1">
                          <a:latin typeface="Graphik" panose="020B0503030202060203" pitchFamily="34" charset="0"/>
                        </a:rPr>
                        <a:t>ProductServiceImpl.getProductId</a:t>
                      </a:r>
                      <a:endParaRPr lang="en-US" sz="1000" dirty="0">
                        <a:latin typeface="Graphik" panose="020B0503030202060203" pitchFamily="34" charset="0"/>
                      </a:endParaRPr>
                    </a:p>
                  </a:txBody>
                  <a:tcPr/>
                </a:tc>
                <a:tc>
                  <a:txBody>
                    <a:bodyPr/>
                    <a:lstStyle/>
                    <a:p>
                      <a:pPr lvl="0">
                        <a:buNone/>
                      </a:pPr>
                      <a:r>
                        <a:rPr lang="en-US" sz="1000" b="0" i="0" u="none" strike="noStrike" noProof="0">
                          <a:latin typeface="Graphik" panose="020B0503030202060203" pitchFamily="34" charset="0"/>
                        </a:rPr>
                        <a:t>Test that an invalid product code throws a BadRequestException with the expected error message and status code.</a:t>
                      </a:r>
                      <a:endParaRPr lang="en-US" sz="1000" dirty="0">
                        <a:latin typeface="Graphik" panose="020B0503030202060203" pitchFamily="34" charset="0"/>
                      </a:endParaRPr>
                    </a:p>
                  </a:txBody>
                  <a:tcPr/>
                </a:tc>
                <a:tc>
                  <a:txBody>
                    <a:bodyPr/>
                    <a:lstStyle/>
                    <a:p>
                      <a:pPr lvl="0" algn="l">
                        <a:lnSpc>
                          <a:spcPct val="100000"/>
                        </a:lnSpc>
                        <a:spcBef>
                          <a:spcPts val="0"/>
                        </a:spcBef>
                        <a:spcAft>
                          <a:spcPts val="0"/>
                        </a:spcAft>
                        <a:buNone/>
                      </a:pPr>
                      <a:r>
                        <a:rPr lang="en-US" sz="1000" b="0" i="0" u="none" strike="noStrike" noProof="0" dirty="0">
                          <a:latin typeface="Graphik" panose="020B0503030202060203" pitchFamily="34" charset="0"/>
                        </a:rPr>
                        <a:t>Call </a:t>
                      </a:r>
                      <a:r>
                        <a:rPr lang="en-US" sz="1000" b="0" i="0" u="none" strike="noStrike" noProof="0" dirty="0" err="1">
                          <a:latin typeface="Graphik" panose="020B0503030202060203" pitchFamily="34" charset="0"/>
                        </a:rPr>
                        <a:t>ProductServiceImpl.getProductId</a:t>
                      </a:r>
                      <a:endParaRPr lang="en-US" sz="1000" b="0" i="0" u="none" strike="noStrike" noProof="0" dirty="0">
                        <a:latin typeface="Graphik" panose="020B0503030202060203" pitchFamily="34" charset="0"/>
                      </a:endParaRPr>
                    </a:p>
                    <a:p>
                      <a:pPr lvl="0" algn="l">
                        <a:lnSpc>
                          <a:spcPct val="100000"/>
                        </a:lnSpc>
                        <a:spcBef>
                          <a:spcPts val="0"/>
                        </a:spcBef>
                        <a:spcAft>
                          <a:spcPts val="0"/>
                        </a:spcAft>
                        <a:buNone/>
                      </a:pPr>
                      <a:r>
                        <a:rPr lang="en-US" sz="1000" b="0" i="0" u="none" strike="noStrike" noProof="0" dirty="0">
                          <a:latin typeface="Graphik" panose="020B0503030202060203" pitchFamily="34" charset="0"/>
                        </a:rPr>
                        <a:t>.</a:t>
                      </a:r>
                      <a:r>
                        <a:rPr lang="en-US" sz="1000" b="0" i="0" u="none" strike="noStrike" noProof="0" dirty="0" err="1">
                          <a:latin typeface="Graphik" panose="020B0503030202060203" pitchFamily="34" charset="0"/>
                        </a:rPr>
                        <a:t>getProductId</a:t>
                      </a:r>
                      <a:r>
                        <a:rPr lang="en-US" sz="1000" b="0" i="0" u="none" strike="noStrike" noProof="0" dirty="0">
                          <a:latin typeface="Graphik" panose="020B0503030202060203" pitchFamily="34" charset="0"/>
                        </a:rPr>
                        <a:t>("12345")</a:t>
                      </a:r>
                      <a:endParaRPr lang="en-US" sz="1000" dirty="0">
                        <a:latin typeface="Graphik" panose="020B0503030202060203" pitchFamily="34" charset="0"/>
                      </a:endParaRPr>
                    </a:p>
                  </a:txBody>
                  <a:tcPr/>
                </a:tc>
                <a:tc>
                  <a:txBody>
                    <a:bodyPr/>
                    <a:lstStyle/>
                    <a:p>
                      <a:pPr lvl="0" algn="l">
                        <a:lnSpc>
                          <a:spcPct val="100000"/>
                        </a:lnSpc>
                        <a:spcBef>
                          <a:spcPts val="0"/>
                        </a:spcBef>
                        <a:spcAft>
                          <a:spcPts val="0"/>
                        </a:spcAft>
                        <a:buNone/>
                      </a:pPr>
                      <a:r>
                        <a:rPr lang="en-US" sz="1000" b="0" i="0" u="none" strike="noStrike" noProof="0" dirty="0">
                          <a:solidFill>
                            <a:srgbClr val="000000"/>
                          </a:solidFill>
                          <a:latin typeface="Graphik" panose="020B0503030202060203" pitchFamily="34" charset="0"/>
                        </a:rPr>
                        <a:t>Verify that the returned data includes the following:</a:t>
                      </a:r>
                    </a:p>
                    <a:p>
                      <a:pPr lvl="0" algn="l">
                        <a:lnSpc>
                          <a:spcPct val="100000"/>
                        </a:lnSpc>
                        <a:spcBef>
                          <a:spcPts val="0"/>
                        </a:spcBef>
                        <a:spcAft>
                          <a:spcPts val="0"/>
                        </a:spcAft>
                        <a:buNone/>
                      </a:pPr>
                      <a:r>
                        <a:rPr lang="en-US" sz="1000" b="0" i="0" u="none" strike="noStrike" noProof="0" dirty="0">
                          <a:solidFill>
                            <a:srgbClr val="000000"/>
                          </a:solidFill>
                          <a:latin typeface="Graphik" panose="020B0503030202060203" pitchFamily="34" charset="0"/>
                        </a:rPr>
                        <a:t>     </a:t>
                      </a:r>
                      <a:r>
                        <a:rPr lang="en-US" sz="1000" b="1" i="0" u="none" strike="noStrike" noProof="0" dirty="0" err="1">
                          <a:solidFill>
                            <a:srgbClr val="000000"/>
                          </a:solidFill>
                          <a:latin typeface="Graphik" panose="020B0503030202060203" pitchFamily="34" charset="0"/>
                        </a:rPr>
                        <a:t>errorId</a:t>
                      </a:r>
                      <a:r>
                        <a:rPr lang="en-US" sz="1000" b="0" i="0" u="none" strike="noStrike" noProof="0" dirty="0">
                          <a:solidFill>
                            <a:srgbClr val="000000"/>
                          </a:solidFill>
                          <a:latin typeface="Graphik" panose="020B0503030202060203" pitchFamily="34" charset="0"/>
                        </a:rPr>
                        <a:t>: 400</a:t>
                      </a:r>
                    </a:p>
                    <a:p>
                      <a:pPr lvl="0" algn="l">
                        <a:lnSpc>
                          <a:spcPct val="100000"/>
                        </a:lnSpc>
                        <a:spcBef>
                          <a:spcPts val="0"/>
                        </a:spcBef>
                        <a:spcAft>
                          <a:spcPts val="0"/>
                        </a:spcAft>
                        <a:buNone/>
                      </a:pPr>
                      <a:r>
                        <a:rPr lang="en-US" sz="1000" b="0" i="0" u="none" strike="noStrike" noProof="0" dirty="0">
                          <a:solidFill>
                            <a:srgbClr val="000000"/>
                          </a:solidFill>
                          <a:latin typeface="Graphik" panose="020B0503030202060203" pitchFamily="34" charset="0"/>
                        </a:rPr>
                        <a:t>     </a:t>
                      </a:r>
                      <a:r>
                        <a:rPr lang="en-US" sz="1000" b="1" i="0" u="none" strike="noStrike" noProof="0" dirty="0" err="1">
                          <a:solidFill>
                            <a:srgbClr val="000000"/>
                          </a:solidFill>
                          <a:latin typeface="Graphik" panose="020B0503030202060203" pitchFamily="34" charset="0"/>
                        </a:rPr>
                        <a:t>errorMessage</a:t>
                      </a:r>
                      <a:r>
                        <a:rPr lang="en-US" sz="1000" b="0" i="0" u="none" strike="noStrike" noProof="0" dirty="0">
                          <a:solidFill>
                            <a:srgbClr val="000000"/>
                          </a:solidFill>
                          <a:latin typeface="Graphik" panose="020B0503030202060203" pitchFamily="34" charset="0"/>
                        </a:rPr>
                        <a:t>: "Product code 12345 not found."</a:t>
                      </a:r>
                    </a:p>
                    <a:p>
                      <a:pPr lvl="0" algn="l">
                        <a:lnSpc>
                          <a:spcPct val="100000"/>
                        </a:lnSpc>
                        <a:spcBef>
                          <a:spcPts val="0"/>
                        </a:spcBef>
                        <a:spcAft>
                          <a:spcPts val="0"/>
                        </a:spcAft>
                        <a:buNone/>
                      </a:pPr>
                      <a:r>
                        <a:rPr lang="en-US" sz="1000" b="0" i="0" u="none" strike="noStrike" noProof="0" dirty="0">
                          <a:solidFill>
                            <a:srgbClr val="000000"/>
                          </a:solidFill>
                          <a:latin typeface="Graphik" panose="020B0503030202060203" pitchFamily="34" charset="0"/>
                        </a:rPr>
                        <a:t>     </a:t>
                      </a:r>
                      <a:r>
                        <a:rPr lang="en-US" sz="1000" b="1" i="0" u="none" strike="noStrike" noProof="0" dirty="0" err="1">
                          <a:solidFill>
                            <a:srgbClr val="000000"/>
                          </a:solidFill>
                          <a:latin typeface="Graphik" panose="020B0503030202060203" pitchFamily="34" charset="0"/>
                        </a:rPr>
                        <a:t>errorDetails</a:t>
                      </a:r>
                      <a:r>
                        <a:rPr lang="en-US" sz="1000" b="1" i="0" u="none" strike="noStrike" noProof="0" dirty="0">
                          <a:solidFill>
                            <a:srgbClr val="000000"/>
                          </a:solidFill>
                          <a:latin typeface="Graphik" panose="020B0503030202060203" pitchFamily="34" charset="0"/>
                        </a:rPr>
                        <a:t> </a:t>
                      </a:r>
                      <a:r>
                        <a:rPr lang="en-US" sz="1000" b="0" i="0" u="none" strike="noStrike" noProof="0" dirty="0">
                          <a:solidFill>
                            <a:srgbClr val="000000"/>
                          </a:solidFill>
                          <a:latin typeface="Graphik" panose="020B0503030202060203" pitchFamily="34" charset="0"/>
                        </a:rPr>
                        <a:t>of an empty map.</a:t>
                      </a:r>
                      <a:endParaRPr lang="en-US" sz="1000" dirty="0">
                        <a:latin typeface="Graphik" panose="020B0503030202060203" pitchFamily="34" charset="0"/>
                      </a:endParaRPr>
                    </a:p>
                  </a:txBody>
                  <a:tcPr/>
                </a:tc>
                <a:extLst>
                  <a:ext uri="{0D108BD9-81ED-4DB2-BD59-A6C34878D82A}">
                    <a16:rowId xmlns:a16="http://schemas.microsoft.com/office/drawing/2014/main" val="334820755"/>
                  </a:ext>
                </a:extLst>
              </a:tr>
            </a:tbl>
          </a:graphicData>
        </a:graphic>
      </p:graphicFrame>
      <p:sp>
        <p:nvSpPr>
          <p:cNvPr id="10" name="TextBox 9">
            <a:extLst>
              <a:ext uri="{FF2B5EF4-FFF2-40B4-BE49-F238E27FC236}">
                <a16:creationId xmlns:a16="http://schemas.microsoft.com/office/drawing/2014/main" id="{0A3AC9BF-BA36-15E2-7C6E-5C2B48DF4B4C}"/>
              </a:ext>
            </a:extLst>
          </p:cNvPr>
          <p:cNvSpPr txBox="1"/>
          <p:nvPr/>
        </p:nvSpPr>
        <p:spPr>
          <a:xfrm>
            <a:off x="604347" y="1153468"/>
            <a:ext cx="11474583" cy="2585323"/>
          </a:xfrm>
          <a:prstGeom prst="rect">
            <a:avLst/>
          </a:prstGeom>
          <a:noFill/>
        </p:spPr>
        <p:txBody>
          <a:bodyPr wrap="square" rtlCol="0">
            <a:spAutoFit/>
          </a:bodyPr>
          <a:lstStyle/>
          <a:p>
            <a:pPr marL="285750" indent="-285750">
              <a:buFont typeface="Courier New" panose="02070309020205020404" pitchFamily="49" charset="0"/>
              <a:buChar char="o"/>
            </a:pPr>
            <a:r>
              <a:rPr lang="en-US" b="1" dirty="0"/>
              <a:t>Location: </a:t>
            </a:r>
            <a:r>
              <a:rPr lang="en-US" dirty="0"/>
              <a:t>Create the unit test class under the test folder in your project directory.</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Package Name: </a:t>
            </a:r>
            <a:r>
              <a:rPr lang="en-US" dirty="0"/>
              <a:t>The package name of the test class should match the package name of the class you are testing. For example, if the </a:t>
            </a:r>
            <a:r>
              <a:rPr lang="en-US" dirty="0" err="1"/>
              <a:t>ProductServiceImpl</a:t>
            </a:r>
            <a:r>
              <a:rPr lang="en-US" dirty="0"/>
              <a:t> class is located in the package </a:t>
            </a:r>
            <a:r>
              <a:rPr lang="en-US" dirty="0" err="1"/>
              <a:t>com.accenture.productinfo.service.impl</a:t>
            </a:r>
            <a:r>
              <a:rPr lang="en-US" dirty="0"/>
              <a:t>, then the test class should also be in </a:t>
            </a:r>
            <a:r>
              <a:rPr lang="en-US" dirty="0" err="1"/>
              <a:t>com.accenture.productinfo.service.impl</a:t>
            </a:r>
            <a:r>
              <a:rPr lang="en-US" dirty="0"/>
              <a:t>.</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b="1" dirty="0"/>
              <a:t>Class Name: </a:t>
            </a:r>
            <a:r>
              <a:rPr lang="en-US" dirty="0"/>
              <a:t>Name the test class </a:t>
            </a:r>
            <a:r>
              <a:rPr lang="en-US" dirty="0" err="1"/>
              <a:t>ProductServiceImplemTest</a:t>
            </a:r>
            <a:r>
              <a:rPr lang="en-US" dirty="0"/>
              <a:t> to clearly indicate that it tests the </a:t>
            </a:r>
            <a:r>
              <a:rPr lang="en-US" dirty="0" err="1"/>
              <a:t>ProductServiceImpl</a:t>
            </a:r>
            <a:r>
              <a:rPr lang="en-US" dirty="0"/>
              <a:t> class.</a:t>
            </a:r>
          </a:p>
        </p:txBody>
      </p:sp>
    </p:spTree>
    <p:extLst>
      <p:ext uri="{BB962C8B-B14F-4D97-AF65-F5344CB8AC3E}">
        <p14:creationId xmlns:p14="http://schemas.microsoft.com/office/powerpoint/2010/main" val="2609733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FAQ – Frequently Asked Questions</a:t>
            </a:r>
          </a:p>
        </p:txBody>
      </p:sp>
      <p:sp>
        <p:nvSpPr>
          <p:cNvPr id="4" name="TextBox 3">
            <a:extLst>
              <a:ext uri="{FF2B5EF4-FFF2-40B4-BE49-F238E27FC236}">
                <a16:creationId xmlns:a16="http://schemas.microsoft.com/office/drawing/2014/main" id="{623BCA2C-7A5B-15BF-70D4-AF7BDEB8AD0A}"/>
              </a:ext>
            </a:extLst>
          </p:cNvPr>
          <p:cNvSpPr txBox="1"/>
          <p:nvPr/>
        </p:nvSpPr>
        <p:spPr>
          <a:xfrm>
            <a:off x="363795" y="1081549"/>
            <a:ext cx="11100618" cy="5893921"/>
          </a:xfrm>
          <a:prstGeom prst="rect">
            <a:avLst/>
          </a:prstGeom>
          <a:noFill/>
        </p:spPr>
        <p:txBody>
          <a:bodyPr wrap="square" rtlCol="0">
            <a:spAutoFit/>
          </a:bodyPr>
          <a:lstStyle/>
          <a:p>
            <a:r>
              <a:rPr lang="en-US" sz="1450" b="1" dirty="0">
                <a:solidFill>
                  <a:schemeClr val="accent5"/>
                </a:solidFill>
                <a:latin typeface="Graphik" panose="020B0503030202060203" pitchFamily="34" charset="0"/>
                <a:cs typeface="Arabic Typesetting" panose="03020402040406030203" pitchFamily="66" charset="-78"/>
              </a:rPr>
              <a:t>     </a:t>
            </a:r>
            <a:r>
              <a:rPr lang="en-US" sz="1450" b="1" dirty="0">
                <a:solidFill>
                  <a:srgbClr val="FF0000"/>
                </a:solidFill>
                <a:latin typeface="Graphik" panose="020B0503030202060203" pitchFamily="34" charset="0"/>
                <a:cs typeface="Arabic Typesetting" panose="03020402040406030203" pitchFamily="66" charset="-78"/>
              </a:rPr>
              <a:t>An error was encountered :  </a:t>
            </a:r>
            <a:r>
              <a:rPr lang="en-US" sz="1450" dirty="0">
                <a:latin typeface="Graphik" panose="020B0503030202060203" pitchFamily="34" charset="0"/>
                <a:cs typeface="Arabic Typesetting" panose="03020402040406030203" pitchFamily="66" charset="-78"/>
              </a:rPr>
              <a:t>org/</a:t>
            </a:r>
            <a:r>
              <a:rPr lang="en-US" sz="1450" dirty="0" err="1">
                <a:latin typeface="Graphik" panose="020B0503030202060203" pitchFamily="34" charset="0"/>
                <a:cs typeface="Arabic Typesetting" panose="03020402040406030203" pitchFamily="66" charset="-78"/>
              </a:rPr>
              <a:t>springframework</a:t>
            </a:r>
            <a:r>
              <a:rPr lang="en-US" sz="1450" dirty="0">
                <a:latin typeface="Graphik" panose="020B0503030202060203" pitchFamily="34" charset="0"/>
                <a:cs typeface="Arabic Typesetting" panose="03020402040406030203" pitchFamily="66" charset="-78"/>
              </a:rPr>
              <a:t>/boot/</a:t>
            </a:r>
            <a:r>
              <a:rPr lang="en-US" sz="1450" dirty="0" err="1">
                <a:latin typeface="Graphik" panose="020B0503030202060203" pitchFamily="34" charset="0"/>
                <a:cs typeface="Arabic Typesetting" panose="03020402040406030203" pitchFamily="66" charset="-78"/>
              </a:rPr>
              <a:t>SpringApplication</a:t>
            </a:r>
            <a:r>
              <a:rPr lang="en-US" sz="1450" dirty="0">
                <a:latin typeface="Graphik" panose="020B0503030202060203" pitchFamily="34" charset="0"/>
                <a:cs typeface="Arabic Typesetting" panose="03020402040406030203" pitchFamily="66" charset="-78"/>
              </a:rPr>
              <a:t> has been compiled by a more recent version of the Java Runtime (class file version 61.0), this version of the Java Runtime only recognizes class file versions up to 55.0 </a:t>
            </a:r>
          </a:p>
          <a:p>
            <a:r>
              <a:rPr lang="en-US" sz="1450" b="1" dirty="0">
                <a:solidFill>
                  <a:schemeClr val="accent6">
                    <a:lumMod val="75000"/>
                  </a:schemeClr>
                </a:solidFill>
                <a:latin typeface="Graphik" panose="020B0503030202060203" pitchFamily="34" charset="0"/>
                <a:cs typeface="Arabic Typesetting" panose="03020402040406030203" pitchFamily="66" charset="-78"/>
              </a:rPr>
              <a:t>      </a:t>
            </a:r>
            <a:r>
              <a:rPr lang="en-US" sz="1450" b="1" dirty="0">
                <a:solidFill>
                  <a:schemeClr val="accent2"/>
                </a:solidFill>
                <a:latin typeface="Graphik" panose="020B0503030202060203" pitchFamily="34" charset="0"/>
                <a:cs typeface="Arabic Typesetting" panose="03020402040406030203" pitchFamily="66" charset="-78"/>
              </a:rPr>
              <a:t>About the error:  </a:t>
            </a:r>
            <a:r>
              <a:rPr lang="en-US" sz="1450" dirty="0">
                <a:latin typeface="Graphik" panose="020B0503030202060203" pitchFamily="34" charset="0"/>
                <a:cs typeface="Arabic Typesetting" panose="03020402040406030203" pitchFamily="66" charset="-78"/>
              </a:rPr>
              <a:t>The error indicates that your project is using a version of Spring Boot compiled with a newer version of Java than the one you are currently using. To resolve this, you need to update your Java version to match the version used by Spring Boot.</a:t>
            </a:r>
          </a:p>
          <a:p>
            <a:r>
              <a:rPr lang="en-US" sz="1450" b="1" dirty="0">
                <a:solidFill>
                  <a:schemeClr val="accent6">
                    <a:lumMod val="75000"/>
                  </a:schemeClr>
                </a:solidFill>
                <a:latin typeface="Graphik" panose="020B0503030202060203" pitchFamily="34" charset="0"/>
                <a:cs typeface="Arabic Typesetting" panose="03020402040406030203" pitchFamily="66" charset="-78"/>
              </a:rPr>
              <a:t>     </a:t>
            </a:r>
            <a:r>
              <a:rPr lang="en-US" sz="1450" b="1" dirty="0">
                <a:solidFill>
                  <a:srgbClr val="00B050"/>
                </a:solidFill>
                <a:latin typeface="Graphik" panose="020B0503030202060203" pitchFamily="34" charset="0"/>
                <a:cs typeface="Arabic Typesetting" panose="03020402040406030203" pitchFamily="66" charset="-78"/>
              </a:rPr>
              <a:t> Solution: </a:t>
            </a:r>
            <a:r>
              <a:rPr lang="en-US" sz="1450" b="1" dirty="0">
                <a:solidFill>
                  <a:schemeClr val="accent2"/>
                </a:solidFill>
                <a:latin typeface="Graphik" panose="020B0503030202060203" pitchFamily="34" charset="0"/>
                <a:cs typeface="Arabic Typesetting" panose="03020402040406030203" pitchFamily="66" charset="-78"/>
              </a:rPr>
              <a:t> </a:t>
            </a: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Check the required Java version for your Spring Boot version: Spring Boot 2.5.x requires Java 11, while Spring Boot 3.x requires Java 17 and up.</a:t>
            </a: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Java Development Kit (JDK): Ensure you have the correct JDK installed. You can download the latest JDK from </a:t>
            </a:r>
            <a:r>
              <a:rPr lang="en-US" sz="1450" dirty="0">
                <a:latin typeface="Graphik" panose="020B0503030202060203" pitchFamily="34" charset="0"/>
                <a:cs typeface="Arabic Typesetting" panose="03020402040406030203" pitchFamily="66" charset="-78"/>
                <a:hlinkClick r:id="rId2"/>
              </a:rPr>
              <a:t>Downloads for Amazon </a:t>
            </a:r>
            <a:r>
              <a:rPr lang="en-US" sz="1450" dirty="0" err="1">
                <a:latin typeface="Graphik" panose="020B0503030202060203" pitchFamily="34" charset="0"/>
                <a:cs typeface="Arabic Typesetting" panose="03020402040406030203" pitchFamily="66" charset="-78"/>
                <a:hlinkClick r:id="rId2"/>
              </a:rPr>
              <a:t>Corretto</a:t>
            </a:r>
            <a:r>
              <a:rPr lang="en-US" sz="1450" dirty="0">
                <a:latin typeface="Graphik" panose="020B0503030202060203" pitchFamily="34" charset="0"/>
                <a:cs typeface="Arabic Typesetting" panose="03020402040406030203" pitchFamily="66" charset="-78"/>
                <a:hlinkClick r:id="rId2"/>
              </a:rPr>
              <a:t> 21 - Amazon </a:t>
            </a:r>
            <a:r>
              <a:rPr lang="en-US" sz="1450" dirty="0" err="1">
                <a:latin typeface="Graphik" panose="020B0503030202060203" pitchFamily="34" charset="0"/>
                <a:cs typeface="Arabic Typesetting" panose="03020402040406030203" pitchFamily="66" charset="-78"/>
                <a:hlinkClick r:id="rId2"/>
              </a:rPr>
              <a:t>Corretto</a:t>
            </a:r>
            <a:r>
              <a:rPr lang="en-US" sz="1450" dirty="0">
                <a:latin typeface="Graphik" panose="020B0503030202060203" pitchFamily="34" charset="0"/>
                <a:cs typeface="Arabic Typesetting" panose="03020402040406030203" pitchFamily="66" charset="-78"/>
                <a:hlinkClick r:id="rId2"/>
              </a:rPr>
              <a:t> 21</a:t>
            </a:r>
            <a:endParaRPr lang="en-US" sz="145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IDE settings: Ensure IntelliJ IDEA is configured to use the correct JDK.  </a:t>
            </a:r>
          </a:p>
          <a:p>
            <a:pPr lvl="1"/>
            <a:r>
              <a:rPr lang="en-US" sz="1450" dirty="0">
                <a:latin typeface="Graphik" panose="020B0503030202060203" pitchFamily="34" charset="0"/>
                <a:cs typeface="Arabic Typesetting" panose="03020402040406030203" pitchFamily="66" charset="-78"/>
              </a:rPr>
              <a:t>       </a:t>
            </a:r>
            <a:r>
              <a:rPr lang="en-US" sz="1450" b="1" dirty="0">
                <a:latin typeface="Graphik" panose="020B0503030202060203" pitchFamily="34" charset="0"/>
                <a:cs typeface="Arabic Typesetting" panose="03020402040406030203" pitchFamily="66" charset="-78"/>
              </a:rPr>
              <a:t>Step 1: </a:t>
            </a:r>
          </a:p>
          <a:p>
            <a:pPr lvl="1"/>
            <a:r>
              <a:rPr lang="en-US" sz="1450" dirty="0">
                <a:latin typeface="Graphik" panose="020B0503030202060203" pitchFamily="34" charset="0"/>
                <a:cs typeface="Arabic Typesetting" panose="03020402040406030203" pitchFamily="66" charset="-78"/>
              </a:rPr>
              <a:t> 	  Go to File &gt; Project Structure.</a:t>
            </a:r>
          </a:p>
          <a:p>
            <a:pPr lvl="1"/>
            <a:r>
              <a:rPr lang="en-US" sz="1450" dirty="0">
                <a:latin typeface="Graphik" panose="020B0503030202060203" pitchFamily="34" charset="0"/>
                <a:cs typeface="Arabic Typesetting" panose="03020402040406030203" pitchFamily="66" charset="-78"/>
              </a:rPr>
              <a:t> 	  Under Project Settings, select Project.</a:t>
            </a:r>
          </a:p>
          <a:p>
            <a:pPr lvl="1"/>
            <a:r>
              <a:rPr lang="en-US" sz="1450" dirty="0">
                <a:latin typeface="Graphik" panose="020B0503030202060203" pitchFamily="34" charset="0"/>
                <a:cs typeface="Arabic Typesetting" panose="03020402040406030203" pitchFamily="66" charset="-78"/>
              </a:rPr>
              <a:t> 	  Set the Project SDK to the correct JDK version.</a:t>
            </a:r>
          </a:p>
          <a:p>
            <a:pPr lvl="1"/>
            <a:r>
              <a:rPr lang="en-US" sz="1450" dirty="0">
                <a:latin typeface="Graphik" panose="020B0503030202060203" pitchFamily="34" charset="0"/>
                <a:cs typeface="Arabic Typesetting" panose="03020402040406030203" pitchFamily="66" charset="-78"/>
              </a:rPr>
              <a:t> 	  Set the Project language level to the corresponding Java version.</a:t>
            </a:r>
          </a:p>
          <a:p>
            <a:pPr lvl="1"/>
            <a:r>
              <a:rPr lang="en-US" sz="1450" dirty="0">
                <a:latin typeface="Graphik" panose="020B0503030202060203" pitchFamily="34" charset="0"/>
                <a:cs typeface="Arabic Typesetting" panose="03020402040406030203" pitchFamily="66" charset="-78"/>
              </a:rPr>
              <a:t> 	 After making these changes, rebuild your project to ensure it uses the correct Java version. </a:t>
            </a:r>
          </a:p>
          <a:p>
            <a:pPr lvl="1"/>
            <a:r>
              <a:rPr lang="en-US" sz="1450" dirty="0">
                <a:latin typeface="Graphik" panose="020B0503030202060203" pitchFamily="34" charset="0"/>
                <a:cs typeface="Arabic Typesetting" panose="03020402040406030203" pitchFamily="66" charset="-78"/>
              </a:rPr>
              <a:t>        </a:t>
            </a:r>
            <a:r>
              <a:rPr lang="en-US" sz="1450" b="1" dirty="0">
                <a:latin typeface="Graphik" panose="020B0503030202060203" pitchFamily="34" charset="0"/>
                <a:cs typeface="Arabic Typesetting" panose="03020402040406030203" pitchFamily="66" charset="-78"/>
              </a:rPr>
              <a:t>Step 2: </a:t>
            </a:r>
          </a:p>
          <a:p>
            <a:pPr lvl="1"/>
            <a:r>
              <a:rPr lang="en-US" sz="1450" dirty="0">
                <a:latin typeface="Graphik" panose="020B0503030202060203" pitchFamily="34" charset="0"/>
                <a:cs typeface="Arabic Typesetting" panose="03020402040406030203" pitchFamily="66" charset="-78"/>
              </a:rPr>
              <a:t>             Verify if the Run Configuration uses the correct JDK: </a:t>
            </a:r>
          </a:p>
          <a:p>
            <a:pPr lvl="1"/>
            <a:r>
              <a:rPr lang="en-US" sz="1450" dirty="0">
                <a:latin typeface="Graphik" panose="020B0503030202060203" pitchFamily="34" charset="0"/>
                <a:cs typeface="Arabic Typesetting" panose="03020402040406030203" pitchFamily="66" charset="-78"/>
              </a:rPr>
              <a:t>              </a:t>
            </a:r>
            <a:r>
              <a:rPr lang="en-US" sz="1450" dirty="0">
                <a:latin typeface="Graphik" panose="020B0503030202060203" pitchFamily="34" charset="0"/>
              </a:rPr>
              <a:t>Click on </a:t>
            </a:r>
            <a:r>
              <a:rPr lang="en-US" sz="1450" b="1" dirty="0">
                <a:latin typeface="Graphik" panose="020B0503030202060203" pitchFamily="34" charset="0"/>
              </a:rPr>
              <a:t>Run &gt; Edit Configurations</a:t>
            </a:r>
            <a:r>
              <a:rPr lang="en-US" sz="1450" dirty="0">
                <a:latin typeface="Graphik" panose="020B0503030202060203" pitchFamily="34" charset="0"/>
              </a:rPr>
              <a:t>. Under </a:t>
            </a:r>
            <a:r>
              <a:rPr lang="en-US" sz="1450" b="1" dirty="0">
                <a:latin typeface="Graphik" panose="020B0503030202060203" pitchFamily="34" charset="0"/>
              </a:rPr>
              <a:t>Build and Run</a:t>
            </a:r>
            <a:r>
              <a:rPr lang="en-US" sz="1450" dirty="0">
                <a:latin typeface="Graphik" panose="020B0503030202060203" pitchFamily="34" charset="0"/>
              </a:rPr>
              <a:t>, select the appropriate JDK.</a:t>
            </a:r>
            <a:endParaRPr lang="en-US" sz="1450" dirty="0">
              <a:latin typeface="Graphik" panose="020B0503030202060203" pitchFamily="34" charset="0"/>
              <a:cs typeface="Arabic Typesetting" panose="03020402040406030203" pitchFamily="66" charset="-78"/>
            </a:endParaRPr>
          </a:p>
          <a:p>
            <a:pPr marL="742950" lvl="1" indent="-285750">
              <a:buFont typeface="Courier New" panose="02070309020205020404" pitchFamily="49" charset="0"/>
              <a:buChar char="o"/>
            </a:pPr>
            <a:r>
              <a:rPr lang="en-US" sz="1450" dirty="0">
                <a:latin typeface="Graphik" panose="020B0503030202060203" pitchFamily="34" charset="0"/>
                <a:cs typeface="Arabic Typesetting" panose="03020402040406030203" pitchFamily="66" charset="-78"/>
              </a:rPr>
              <a:t>Update your pom.xml: Ensure your Maven project is configured to use the correct Java version.</a:t>
            </a:r>
          </a:p>
          <a:p>
            <a:pPr marL="742950" lvl="1" indent="-285750">
              <a:buFont typeface="Courier New" panose="02070309020205020404" pitchFamily="49" charset="0"/>
              <a:buChar char="o"/>
            </a:pPr>
            <a:endParaRPr lang="en-US" sz="1450" b="1" dirty="0">
              <a:solidFill>
                <a:schemeClr val="accent5"/>
              </a:solidFill>
              <a:latin typeface="Graphik" panose="020B0503030202060203" pitchFamily="34" charset="0"/>
              <a:cs typeface="Arabic Typesetting" panose="03020402040406030203" pitchFamily="66" charset="-78"/>
            </a:endParaRPr>
          </a:p>
          <a:p>
            <a:pPr lvl="1"/>
            <a:r>
              <a:rPr lang="en-US" sz="1450" b="1" dirty="0">
                <a:solidFill>
                  <a:schemeClr val="accent5"/>
                </a:solidFill>
                <a:latin typeface="Graphik" panose="020B0503030202060203" pitchFamily="34" charset="0"/>
                <a:cs typeface="Arabic Typesetting" panose="03020402040406030203" pitchFamily="66" charset="-78"/>
              </a:rPr>
              <a:t>Can I use </a:t>
            </a:r>
            <a:r>
              <a:rPr lang="en-US" sz="1450" b="1" dirty="0" err="1">
                <a:solidFill>
                  <a:schemeClr val="accent5"/>
                </a:solidFill>
                <a:latin typeface="Graphik" panose="020B0503030202060203" pitchFamily="34" charset="0"/>
                <a:cs typeface="Arabic Typesetting" panose="03020402040406030203" pitchFamily="66" charset="-78"/>
              </a:rPr>
              <a:t>Github</a:t>
            </a:r>
            <a:r>
              <a:rPr lang="en-US" sz="1450" b="1" dirty="0">
                <a:solidFill>
                  <a:schemeClr val="accent5"/>
                </a:solidFill>
                <a:latin typeface="Graphik" panose="020B0503030202060203" pitchFamily="34" charset="0"/>
                <a:cs typeface="Arabic Typesetting" panose="03020402040406030203" pitchFamily="66" charset="-78"/>
              </a:rPr>
              <a:t> Copilot? </a:t>
            </a:r>
            <a:r>
              <a:rPr lang="en-US" sz="1450" dirty="0">
                <a:latin typeface="Graphik" panose="020B0503030202060203" pitchFamily="34" charset="0"/>
                <a:cs typeface="Arabic Typesetting" panose="03020402040406030203" pitchFamily="66" charset="-78"/>
              </a:rPr>
              <a:t>Yes, you can use GitHub Copilot. It will help you accelerate your development process during the bootcamp.</a:t>
            </a:r>
          </a:p>
          <a:p>
            <a:endParaRPr lang="en-US" sz="1450" dirty="0">
              <a:latin typeface="Graphik" panose="020B0503030202060203" pitchFamily="34" charset="0"/>
              <a:cs typeface="Arabic Typesetting" panose="03020402040406030203" pitchFamily="66" charset="-78"/>
            </a:endParaRPr>
          </a:p>
          <a:p>
            <a:endParaRPr lang="en-US" sz="1450" dirty="0">
              <a:latin typeface="Graphik" panose="020B0503030202060203" pitchFamily="34" charset="0"/>
              <a:cs typeface="Arabic Typesetting" panose="03020402040406030203" pitchFamily="66" charset="-78"/>
            </a:endParaRPr>
          </a:p>
        </p:txBody>
      </p:sp>
    </p:spTree>
    <p:extLst>
      <p:ext uri="{BB962C8B-B14F-4D97-AF65-F5344CB8AC3E}">
        <p14:creationId xmlns:p14="http://schemas.microsoft.com/office/powerpoint/2010/main" val="288901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3181-651F-548F-522D-4B362EBED3C4}"/>
              </a:ext>
            </a:extLst>
          </p:cNvPr>
          <p:cNvSpPr>
            <a:spLocks noGrp="1"/>
          </p:cNvSpPr>
          <p:nvPr>
            <p:ph type="ctrTitle"/>
          </p:nvPr>
        </p:nvSpPr>
        <p:spPr>
          <a:xfrm>
            <a:off x="463898" y="327666"/>
            <a:ext cx="10677831" cy="676940"/>
          </a:xfrm>
        </p:spPr>
        <p:txBody>
          <a:bodyPr>
            <a:noAutofit/>
          </a:bodyPr>
          <a:lstStyle/>
          <a:p>
            <a:pPr algn="l"/>
            <a:r>
              <a:rPr lang="en-US" sz="4000" b="1" dirty="0">
                <a:solidFill>
                  <a:schemeClr val="accent5"/>
                </a:solidFill>
                <a:latin typeface="Graphik" panose="020B0503030202060203" pitchFamily="34" charset="0"/>
              </a:rPr>
              <a:t>Guidance for your Demo</a:t>
            </a:r>
          </a:p>
        </p:txBody>
      </p:sp>
      <p:sp>
        <p:nvSpPr>
          <p:cNvPr id="6" name="TextBox 5">
            <a:extLst>
              <a:ext uri="{FF2B5EF4-FFF2-40B4-BE49-F238E27FC236}">
                <a16:creationId xmlns:a16="http://schemas.microsoft.com/office/drawing/2014/main" id="{9B8B3838-F2D9-11AE-E94C-1E249CBB94D6}"/>
              </a:ext>
            </a:extLst>
          </p:cNvPr>
          <p:cNvSpPr txBox="1"/>
          <p:nvPr/>
        </p:nvSpPr>
        <p:spPr>
          <a:xfrm>
            <a:off x="560438" y="1307690"/>
            <a:ext cx="11375923" cy="3093154"/>
          </a:xfrm>
          <a:prstGeom prst="rect">
            <a:avLst/>
          </a:prstGeom>
          <a:noFill/>
        </p:spPr>
        <p:txBody>
          <a:bodyPr wrap="square" rtlCol="0">
            <a:spAutoFit/>
          </a:bodyPr>
          <a:lstStyle/>
          <a:p>
            <a:r>
              <a:rPr lang="en-US" sz="1500" dirty="0">
                <a:latin typeface="Graphik" panose="020B0503030202060203" pitchFamily="34" charset="0"/>
              </a:rPr>
              <a:t>A proper demo goes beyond just executing requests in Postman.</a:t>
            </a:r>
          </a:p>
          <a:p>
            <a:endParaRPr lang="en-US" sz="1500" dirty="0">
              <a:solidFill>
                <a:schemeClr val="accent5">
                  <a:lumMod val="60000"/>
                  <a:lumOff val="40000"/>
                </a:schemeClr>
              </a:solidFill>
              <a:latin typeface="Graphik" panose="020B0503030202060203" pitchFamily="34" charset="0"/>
            </a:endParaRPr>
          </a:p>
          <a:p>
            <a:r>
              <a:rPr lang="en-US" sz="1500" b="1" dirty="0">
                <a:solidFill>
                  <a:schemeClr val="accent5">
                    <a:lumMod val="60000"/>
                    <a:lumOff val="40000"/>
                  </a:schemeClr>
                </a:solidFill>
                <a:latin typeface="Graphik" panose="020B0503030202060203" pitchFamily="34" charset="0"/>
              </a:rPr>
              <a:t>Clear Explanation</a:t>
            </a:r>
            <a:r>
              <a:rPr lang="en-US" sz="1500" dirty="0">
                <a:solidFill>
                  <a:schemeClr val="accent5">
                    <a:lumMod val="60000"/>
                    <a:lumOff val="40000"/>
                  </a:schemeClr>
                </a:solidFill>
                <a:latin typeface="Graphik" panose="020B0503030202060203" pitchFamily="34" charset="0"/>
              </a:rPr>
              <a:t>: </a:t>
            </a:r>
            <a:r>
              <a:rPr lang="en-US" sz="1500" dirty="0">
                <a:latin typeface="Graphik" panose="020B0503030202060203" pitchFamily="34" charset="0"/>
              </a:rPr>
              <a:t>Start by clearly explaining the purpose of the demo. Describe the endpoint you're testing, the scenario, and what you expect to show.</a:t>
            </a:r>
            <a:br>
              <a:rPr lang="en-US" sz="1500" dirty="0">
                <a:latin typeface="Graphik" panose="020B0503030202060203" pitchFamily="34" charset="0"/>
              </a:rPr>
            </a:br>
            <a:br>
              <a:rPr lang="en-US" sz="1500" dirty="0">
                <a:latin typeface="Graphik" panose="020B0503030202060203" pitchFamily="34" charset="0"/>
              </a:rPr>
            </a:br>
            <a:r>
              <a:rPr lang="en-US" sz="1500" b="1" i="1" dirty="0">
                <a:latin typeface="Graphik" panose="020B0503030202060203" pitchFamily="34" charset="0"/>
              </a:rPr>
              <a:t>Scenario: </a:t>
            </a:r>
            <a:r>
              <a:rPr lang="en-US" sz="1500" dirty="0">
                <a:latin typeface="Graphik" panose="020B0503030202060203" pitchFamily="34" charset="0"/>
              </a:rPr>
              <a:t>For this demonstration, I will use a product code 12345 that does not exist in our JSON file. This will help us see how the API handles requests for non-existent products.</a:t>
            </a:r>
          </a:p>
          <a:p>
            <a:endParaRPr lang="en-US" sz="1500" dirty="0">
              <a:latin typeface="Graphik" panose="020B0503030202060203" pitchFamily="34" charset="0"/>
            </a:endParaRPr>
          </a:p>
          <a:p>
            <a:r>
              <a:rPr lang="en-US" sz="1500" b="1" i="1" dirty="0">
                <a:latin typeface="Graphik" panose="020B0503030202060203" pitchFamily="34" charset="0"/>
              </a:rPr>
              <a:t>Expectation: </a:t>
            </a:r>
            <a:r>
              <a:rPr lang="en-US" sz="1500" dirty="0">
                <a:latin typeface="Graphik" panose="020B0503030202060203" pitchFamily="34" charset="0"/>
              </a:rPr>
              <a:t>We expect the API to return a 400 Bad Request status code with a detailed error message indicating that the product code was not found. This will show us how the system handles errors and provides feedback when the requested product is not available."</a:t>
            </a:r>
          </a:p>
          <a:p>
            <a:pPr marL="285750" indent="-285750">
              <a:buFont typeface="Courier New" panose="02070309020205020404" pitchFamily="49" charset="0"/>
              <a:buChar char="o"/>
            </a:pPr>
            <a:endParaRPr lang="en-US" sz="1500" dirty="0">
              <a:latin typeface="Graphik" panose="020B0503030202060203" pitchFamily="34" charset="0"/>
            </a:endParaRPr>
          </a:p>
          <a:p>
            <a:r>
              <a:rPr lang="en-US" sz="1500" b="1" i="1" dirty="0">
                <a:solidFill>
                  <a:schemeClr val="accent5">
                    <a:lumMod val="75000"/>
                  </a:schemeClr>
                </a:solidFill>
                <a:latin typeface="Graphik" panose="020B0503030202060203" pitchFamily="34" charset="0"/>
              </a:rPr>
              <a:t>You can demonstrate the endpoints as soon as you have created them. JUnit tests can be demonstrated afterwards.</a:t>
            </a:r>
          </a:p>
        </p:txBody>
      </p:sp>
    </p:spTree>
    <p:extLst>
      <p:ext uri="{BB962C8B-B14F-4D97-AF65-F5344CB8AC3E}">
        <p14:creationId xmlns:p14="http://schemas.microsoft.com/office/powerpoint/2010/main" val="3465828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1378</TotalTime>
  <Words>1606</Words>
  <Application>Microsoft Office PowerPoint</Application>
  <PresentationFormat>Widescreen</PresentationFormat>
  <Paragraphs>153</Paragraphs>
  <Slides>15</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Arial</vt:lpstr>
      <vt:lpstr>Courier New</vt:lpstr>
      <vt:lpstr>Graphik</vt:lpstr>
      <vt:lpstr>Inter</vt:lpstr>
      <vt:lpstr>Office Theme</vt:lpstr>
      <vt:lpstr>Product Info Microservice</vt:lpstr>
      <vt:lpstr>Starter Application</vt:lpstr>
      <vt:lpstr>What are the objectives?</vt:lpstr>
      <vt:lpstr>Sequence Diagram</vt:lpstr>
      <vt:lpstr>Swagger</vt:lpstr>
      <vt:lpstr>Base URL</vt:lpstr>
      <vt:lpstr>Endpoints</vt:lpstr>
      <vt:lpstr>Models</vt:lpstr>
      <vt:lpstr>How to test?</vt:lpstr>
      <vt:lpstr>How to test?</vt:lpstr>
      <vt:lpstr>How to test?</vt:lpstr>
      <vt:lpstr>Class Diagram</vt:lpstr>
      <vt:lpstr>Unit Test</vt:lpstr>
      <vt:lpstr>FAQ – Frequently Asked Questions</vt:lpstr>
      <vt:lpstr>Guidance for your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Info Microservice</dc:title>
  <dc:creator>Barrion, DJ</dc:creator>
  <cp:lastModifiedBy>Barrion, DJ</cp:lastModifiedBy>
  <cp:revision>56</cp:revision>
  <dcterms:created xsi:type="dcterms:W3CDTF">2024-08-11T07:52:17Z</dcterms:created>
  <dcterms:modified xsi:type="dcterms:W3CDTF">2026-05-04T09:22:22Z</dcterms:modified>
</cp:coreProperties>
</file>